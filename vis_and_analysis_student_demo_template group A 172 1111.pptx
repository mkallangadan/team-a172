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xml" ContentType="application/vnd.openxmlformats-officedocument.presentationml.notesSlide+xml"/>
  <Override PartName="/ppt/ink/ink9.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handoutMasterIdLst>
    <p:handoutMasterId r:id="rId15"/>
  </p:handoutMasterIdLst>
  <p:sldIdLst>
    <p:sldId id="337" r:id="rId5"/>
    <p:sldId id="346" r:id="rId6"/>
    <p:sldId id="289" r:id="rId7"/>
    <p:sldId id="341" r:id="rId8"/>
    <p:sldId id="329" r:id="rId9"/>
    <p:sldId id="340" r:id="rId10"/>
    <p:sldId id="347" r:id="rId11"/>
    <p:sldId id="259"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3" userDrawn="1">
          <p15:clr>
            <a:srgbClr val="A4A3A4"/>
          </p15:clr>
        </p15:guide>
        <p15:guide id="3" orient="horz" pos="3249" userDrawn="1">
          <p15:clr>
            <a:srgbClr val="A4A3A4"/>
          </p15:clr>
        </p15:guide>
        <p15:guide id="4" pos="7079" userDrawn="1">
          <p15:clr>
            <a:srgbClr val="A4A3A4"/>
          </p15:clr>
        </p15:guide>
        <p15:guide id="5" orient="horz" pos="134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232"/>
    <a:srgbClr val="A97CBE"/>
    <a:srgbClr val="85509A"/>
    <a:srgbClr val="714484"/>
    <a:srgbClr val="0073CF"/>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8" d="100"/>
          <a:sy n="78" d="100"/>
        </p:scale>
        <p:origin x="850" y="62"/>
      </p:cViewPr>
      <p:guideLst>
        <p:guide orient="horz" pos="2160"/>
        <p:guide pos="3843"/>
        <p:guide orient="horz" pos="3249"/>
        <p:guide pos="7079"/>
        <p:guide orient="horz" pos="1341"/>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t>09/12/2025</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t>‹#›</a:t>
            </a:fld>
            <a:endParaRPr lang="en-GB"/>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12694 9949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12694 9900 16383 0 0,'4'0'0'0'0,"7"0"0"0"0,5 0 0 0 0,5 0 0 0 0,3 0 0 0 0,2 0 0 0 0,1 0 0 0 0,1 0 0 0 0,-1 0 0 0 0,1-4 0 0 0,3-2 0 0 0,2 0 0 0 0,0 1 0 0 0,-2 2 0 0 0,-1 1 0 0 0,-6-4 0 0 0,-3 0 0 0 0,0 0 0 0 0,1 2 0 0 0,1 1 0 0 0,1 1 0 0 0,1 1 0 0 0,1 1 0 0 0,0 0 0 0 0,1 0 0 0 0,0 0 0 0 0,-1 1 0 0 0,1-1 0 0 0,0 0 0 0 0,-1 5 0 0 0,1 5 0 0 0,-1 6 0 0 0,1 1 0 0 0,-1-4 0 0 0,1-3 0 0 0,-6 1 0 0 0,0-2 0 0 0,0-1 0 0 0,1-3 0 0 0,1 2 0 0 0,1 5 0 0 0,2 0 0 0 0,0-2 0 0 0,4-3 0 0 0,3-6 0 0 0,0-5 0 0 0,-2 0 0 0 0,-1-1 0 0 0,-2 2 0 0 0,-4-4 0 0 0,-4-1 0 0 0,1 2 0 0 0,1 1 0 0 0,-4-3 0 0 0,1 0 0 0 0,-4-3 0 0 0,0 0 0 0 0,2 2 0 0 0,-1-2 0 0 0,0 1 0 0 0,3 3 0 0 0,2 1 0 0 0,2 3 0 0 0,1 1 0 0 0,-2-3 0 0 0,-2-1 0 0 0,6 1 0 0 0,2 1 0 0 0,-3-4 0 0 0,-2 1 0 0 0,-4-4 0 0 0,-1 0 0 0 0,-4-3 0 0 0,-4-3 0 0 0,-4-3 0 0 0,2 2 0 0 0,4 3 0 0 0,4 5 0 0 0,4 4 0 0 0,3 3 0 0 0,3-3 0 0 0,-4 5 0 0 0,-1 7 0 0 0,0 1 0 0 0,2 1 0 0 0,1-1 0 0 0,1-3 0 0 0,0 4 0 0 0,2 4 0 0 0,-5 5 0 0 0,-6 4 0 0 0,-1-2 0 0 0,1-4 0 0 0,7-4 0 0 0,5-4 0 0 0,1-4 0 0 0,-4 3 0 0 0,-2-1 0 0 0,-4 5 0 0 0,-2 0 0 0 0,-8-2 0 0 0,-5-7 0 0 0,-3-3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12595 10424 16383 0 0,'4'0'0'0'0,"7"0"0"0"0,5 0 0 0 0,5 0 0 0 0,12 0 0 0 0,5 0 0 0 0,0 0 0 0 0,-5 5 0 0 0,-5 1 0 0 0,-3 0 0 0 0,0-2 0 0 0,0 0 0 0 0,-1-2 0 0 0,2-1 0 0 0,-1-1 0 0 0,1 0 0 0 0,0 0 0 0 0,1 0 0 0 0,-1-1 0 0 0,5 1 0 0 0,2 0 0 0 0,-1 0 0 0 0,-1 0 0 0 0,-1 0 0 0 0,-2 0 0 0 0,0 0 0 0 0,-1 0 0 0 0,-1 0 0 0 0,5 0 0 0 0,1 0 0 0 0,0 0 0 0 0,-1 0 0 0 0,3 0 0 0 0,5-5 0 0 0,4-5 0 0 0,5-2 0 0 0,-2 2 0 0 0,1 2 0 0 0,-4 3 0 0 0,0 2 0 0 0,-3 1 0 0 0,-3 2 0 0 0,-4 0 0 0 0,-7-4 0 0 0,-4-2 0 0 0,-6-3 0 0 0,0-2 0 0 0,5 3 0 0 0,4 1 0 0 0,2 3 0 0 0,1 1 0 0 0,1 2 0 0 0,-1 1 0 0 0,-1 0 0 0 0,1 1 0 0 0,-1-1 0 0 0,-1 1 0 0 0,1-1 0 0 0,-1 0 0 0 0,1 0 0 0 0,-1 0 0 0 0,0 0 0 0 0,1 0 0 0 0,-1 0 0 0 0,1 0 0 0 0,-1 0 0 0 0,1 0 0 0 0,-1 0 0 0 0,1 0 0 0 0,-1 0 0 0 0,-4 5 0 0 0,-2 1 0 0 0,1-1 0 0 0,1 0 0 0 0,1-2 0 0 0,2-1 0 0 0,0-1 0 0 0,1 0 0 0 0,0-1 0 0 0,-3 4 0 0 0,-3 2 0 0 0,1-1 0 0 0,1 0 0 0 0,2-2 0 0 0,0 3 0 0 0,2 1 0 0 0,4-1 0 0 0,3-1 0 0 0,-1-2 0 0 0,-1-1 0 0 0,-5-1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12628 19632 16383 0 0,'4'0'0'0'0,"7"-4"0"0"0,5-2 0 0 0,5 0 0 0 0,3 1 0 0 0,2 2 0 0 0,1 1 0 0 0,1 1 0 0 0,-1 1 0 0 0,5 0 0 0 0,1 0 0 0 0,4 5 0 0 0,1 5 0 0 0,-3 7 0 0 0,-6 4 0 0 0,0-2 0 0 0,0 1 0 0 0,0-3 0 0 0,-1-4 0 0 0,-1-5 0 0 0,0-3 0 0 0,0-3 0 0 0,-1-2 0 0 0,1 0 0 0 0,-1-1 0 0 0,0 0 0 0 0,5 0 0 0 0,2 1 0 0 0,-1-1 0 0 0,-1 1 0 0 0,-2 0 0 0 0,0 0 0 0 0,-2 0 0 0 0,0 0 0 0 0,0 0 0 0 0,-5-5 0 0 0,-2 0 0 0 0,0-1 0 0 0,2 1 0 0 0,1 6 0 0 0,-3 8 0 0 0,-1 2 0 0 0,2 3 0 0 0,0 4 0 0 0,-2 4 0 0 0,-5 2 0 0 0,0 2 0 0 0,-2 1 0 0 0,1-5 0 0 0,-2 0 0 0 0,-3-10 0 0 0,3-6 0 0 0,-2-9 0 0 0,-2-8 0 0 0,3-3 0 0 0,4-3 0 0 0,3 2 0 0 0,5 2 0 0 0,-3 0 0 0 0,1 2 0 0 0,1 2 0 0 0,1 4 0 0 0,2 2 0 0 0,2 1 0 0 0,0 2 0 0 0,0 0 0 0 0,1 5 0 0 0,-1 2 0 0 0,1-1 0 0 0,0-1 0 0 0,-1-2 0 0 0,1 0 0 0 0,0-2 0 0 0,-1-1 0 0 0,1 0 0 0 0,-1 0 0 0 0,0 0 0 0 0,-4-5 0 0 0,-1-1 0 0 0,0 0 0 0 0,0 1 0 0 0,3 2 0 0 0,0 1 0 0 0,1 1 0 0 0,1 0 0 0 0,1 1 0 0 0,-5-4 0 0 0,-1-2 0 0 0,4 1 0 0 0,-1-4 0 0 0,-1 0 0 0 0,0 1 0 0 0,1 2 0 0 0,1 3 0 0 0,1 1 0 0 0,0 1 0 0 0,0 1 0 0 0,0 0 0 0 0,-3 0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12562 20224 16383 0 0,'0'-4'0'0'0,"0"-7"0"0"0,4 0 0 0 0,6 0 0 0 0,2 8 0 0 0,3 8 0 0 0,3 13 0 0 0,4 16 0 0 0,2 7 0 0 0,-3 2 0 0 0,-5-3 0 0 0,4-4 0 0 0,7-2 0 0 0,13 0 0 0 0,4-4 0 0 0,-1-8 0 0 0,1-3 0 0 0,2 0 0 0 0,-2-3 0 0 0,-4-5 0 0 0,-9-9 0 0 0,-10-8 0 0 0,-8-9 0 0 0,-2-1 0 0 0,2 2 0 0 0,2 3 0 0 0,5 0 0 0 0,2 0 0 0 0,2 4 0 0 0,2 1 0 0 0,-4-1 0 0 0,-1 0 0 0 0,1 0 0 0 0,0 3 0 0 0,2 1 0 0 0,0 6 0 0 0,2 3 0 0 0,0-1 0 0 0,1 0 0 0 0,-1-1 0 0 0,1-2 0 0 0,0-1 0 0 0,-5-5 0 0 0,-6-1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14215 14347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14232 14175 16383 0 0,'9'0'0'0'0,"12"0"0"0"0,16 0 0 0 0,10 0 0 0 0,7 0 0 0 0,3 0 0 0 0,0 0 0 0 0,-4 0 0 0 0,-3-4 0 0 0,-5-2 0 0 0,-1 0 0 0 0,-4 1 0 0 0,-4 2 0 0 0,-3 1 0 0 0,-4 1 0 0 0,3 1 0 0 0,1 0 0 0 0,3 4 0 0 0,0 2 0 0 0,-1 0 0 0 0,-7 4 0 0 0,1-1 0 0 0,-1-1 0 0 0,1-2 0 0 0,-1-3 0 0 0,-1-1 0 0 0,0-1 0 0 0,0 0 0 0 0,0-2 0 0 0,-1 1 0 0 0,0-1 0 0 0,5 1 0 0 0,2-5 0 0 0,-1-1 0 0 0,-1 0 0 0 0,-2 2 0 0 0,0 1 0 0 0,-2 0 0 0 0,0 2 0 0 0,-5 6 0 0 0,-1 0 0 0 0,-5 6 0 0 0,-1 0 0 0 0,-2 2 0 0 0,1 5 0 0 0,-3 2 0 0 0,-2 4 0 0 0,2 1 0 0 0,12-3 0 0 0,24-1 0 0 0,19-4 0 0 0,20-1 0 0 0,4-2 0 0 0,1-4 0 0 0,-2 0 0 0 0,-7 0 0 0 0,-13-3 0 0 0,-9-3 0 0 0,-11-1 0 0 0,-4-2 0 0 0,-1 0 0 0 0,-3-1 0 0 0,0-1 0 0 0,-3 1 0 0 0,-2-1 0 0 0,-4 1 0 0 0,-2 0 0 0 0,-2 0 0 0 0,-1 0 0 0 0,-1 0 0 0 0,0 0 0 0 0,4 0 0 0 0,-3-5 0 0 0,-10-1 0 0 0,-8-4 0 0 0,-11-1 0 0 0,-4-2 0 0 0,-6 0 0 0 0,-5 3 0 0 0,-5 3 0 0 0,-3 3 0 0 0,-1 2 0 0 0,-1 1 0 0 0,-1 1 0 0 0,1 0 0 0 0,-5 1 0 0 0,-1 4 0 0 0,0 1 0 0 0,2 5 0 0 0,-3 4 0 0 0,-1 0 0 0 0,2-2 0 0 0,1 0 0 0 0,3-1 0 0 0,1-3 0 0 0,0 1 0 0 0,-3 4 0 0 0,-1 4 0 0 0,0-2 0 0 0,6 2 0 0 0,7 2 0 0 0,2-2 0 0 0,5-1 0 0 0,3 3 0 0 0,0-3 0 0 0,1 0 0 0 0,-8-2 0 0 0,-5-5 0 0 0,-3 2 0 0 0,-3-2 0 0 0,4 2 0 0 0,1-1 0 0 0,-5-3 0 0 0,-1-2 0 0 0,2 2 0 0 0,3 0 0 0 0,0-2 0 0 0,-1 3 0 0 0,0 0 0 0 0,3 3 0 0 0,6 4 0 0 0,5 3 0 0 0,5 4 0 0 0,2 1 0 0 0,-2-2 0 0 0,-5-5 0 0 0,0-11 0 0 0,-4-5 0 0 0,-3-4 0 0 0,-4-10 0 0 0,-3-3 0 0 0,-1 2 0 0 0,-1 3 0 0 0,-1 3 0 0 0,-5 3 0 0 0,-1 2 0 0 0,0 3 0 0 0,-3 0 0 0 0,0 0 0 0 0,2 1 0 0 0,2 0 0 0 0,1-1 0 0 0,3 0 0 0 0,1 1 0 0 0,-4-1 0 0 0,-2 0 0 0 0,2 0 0 0 0,0 4 0 0 0,2 2 0 0 0,0 0 0 0 0,2-2 0 0 0,0 4 0 0 0,1 0 0 0 0,4 3 0 0 0,2 0 0 0 0,-1 3 0 0 0,0-2 0 0 0,-3 7 0 0 0,0 0 0 0 0,-1 1 0 0 0,-1-3 0 0 0,-1-4 0 0 0,1 0 0 0 0,-1-2 0 0 0,5 2 0 0 0,1-2 0 0 0,0-2 0 0 0,-1-4 0 0 0,-1-1 0 0 0,-1-2 0 0 0,-2-2 0 0 0,0 0 0 0 0,0 0 0 0 0,-1-1 0 0 0,0 1 0 0 0,1-5 0 0 0,-1-2 0 0 0,0 2 0 0 0,5-5 0 0 0,2 1 0 0 0,-1 1 0 0 0,-5 3 0 0 0,-4-8 0 0 0,5-5 0 0 0,1-1 0 0 0,5 0 0 0 0,1 2 0 0 0,4 0 0 0 0,-1-2 0 0 0,3-2 0 0 0,-6 2 0 0 0,0 1 0 0 0,4-2 0 0 0,8 2 0 0 0,9 5 0 0 0,14 5 0 0 0,8-2 0 0 0,5 2 0 0 0,6 2 0 0 0,1 1 0 0 0,3 3 0 0 0,0 1 0 0 0,2-4 0 0 0,-2-1 0 0 0,2 1 0 0 0,2-4 0 0 0,-2 0 0 0 0,-3 2 0 0 0,0-3 0 0 0,3 0 0 0 0,-1 2 0 0 0,-3 3 0 0 0,-4 2 0 0 0,2 1 0 0 0,3 1 0 0 0,0 1 0 0 0,-3 0 0 0 0,-2 1 0 0 0,6-1 0 0 0,6 0 0 0 0,-1 1 0 0 0,-4-1 0 0 0,-4 0 0 0 0,1 0 0 0 0,-2 0 0 0 0,-2 0 0 0 0,-3 0 0 0 0,3 0 0 0 0,-1 0 0 0 0,0 4 0 0 0,-2 2 0 0 0,-2 0 0 0 0,3-1 0 0 0,1-2 0 0 0,4 3 0 0 0,0 2 0 0 0,3 2 0 0 0,-2 1 0 0 0,-1-2 0 0 0,-4-3 0 0 0,-2-2 0 0 0,-3-2 0 0 0,0-1 0 0 0,3-1 0 0 0,-4 5 0 0 0,-1 0 0 0 0,-1 0 0 0 0,4 0 0 0 0,2-2 0 0 0,0-2 0 0 0,-1 0 0 0 0,-1 0 0 0 0,-1-1 0 0 0,0 0 0 0 0,-1-1 0 0 0,-1 1 0 0 0,1 0 0 0 0,-1 0 0 0 0,0 0 0 0 0,1 0 0 0 0,-1 0 0 0 0,0 0 0 0 0,1 0 0 0 0,-1 0 0 0 0,1 0 0 0 0,-1 0 0 0 0,1 0 0 0 0,-1 0 0 0 0,0 0 0 0 0,1 0 0 0 0,-1 0 0 0 0,1 0 0 0 0,-1 0 0 0 0,1 0 0 0 0,-1 0 0 0 0,-4 0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21028 22734 16383 0 0,'5'0'0'0'0,"10"0"0"0"0,20 0 0 0 0,19 0 0 0 0,12 0 0 0 0,15 0 0 0 0,5 0 0 0 0,-2 0 0 0 0,-2 0 0 0 0,-6-5 0 0 0,-2-1 0 0 0,-10-4 0 0 0,-10 0 0 0 0,-6 1 0 0 0,-7 2 0 0 0,-1-2 0 0 0,-3 1 0 0 0,1 1 0 0 0,-1-2 0 0 0,2 0 0 0 0,4 1 0 0 0,-2 3 0 0 0,-3-3 0 0 0,2 1 0 0 0,-3-9 0 0 0,-2 0 0 0 0,-3 1 0 0 0,-2 4 0 0 0,-2 4 0 0 0,-1 3 0 0 0,-1 2 0 0 0,0 1 0 0 0,0 6 0 0 0,0 2 0 0 0,0-1 0 0 0,4 0 0 0 0,-2 2 0 0 0,-2 0 0 0 0,0 4 0 0 0,-1 3 0 0 0,0 0 0 0 0,-4 2 0 0 0,-1-3 0 0 0,-4 2 0 0 0,-1-2 0 0 0,3-4 0 0 0,2 1 0 0 0,2-1 0 0 0,2-3 0 0 0,1 3 0 0 0,11-1 0 0 0,2 2 0 0 0,1 0 0 0 0,1 3 0 0 0,4-2 0 0 0,-1-3 0 0 0,-4-2 0 0 0,1-3 0 0 0,2-2 0 0 0,-1-1 0 0 0,-4-1 0 0 0,-2-1 0 0 0,0 1 0 0 0,0-1 0 0 0,-2 1 0 0 0,3-1 0 0 0,-1 1 0 0 0,3 0 0 0 0,-1 0 0 0 0,-1-4 0 0 0,-4-2 0 0 0,3 0 0 0 0,0 1 0 0 0,-2-2 0 0 0,2-1 0 0 0,5-4 0 0 0,0 1 0 0 0,-3 2 0 0 0,-2 3 0 0 0,-8-3 0 0 0,-4 1 0 0 0,-1 2 0 0 0,0 1 0 0 0,1 2 0 0 0,0 1 0 0 0,-2-3 0 0 0,-2-1 0 0 0,2 1 0 0 0,1 1 0 0 0,1 1 0 0 0,1 1 0 0 0,-2-3 0 0 0,-2-2 0 0 0,1 2 0 0 0,1 0 0 0 0,1 2 0 0 0,2 2 0 0 0,0 0 0 0 0,2 0 0 0 0,-1 1 0 0 0,1 1 0 0 0,0-1 0 0 0,-5 0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3T12:25:27"/>
    </inkml:context>
    <inkml:brush xml:id="br0">
      <inkml:brushProperty name="width" value="0.1" units="cm"/>
      <inkml:brushProperty name="height" value="0.1" units="cm"/>
      <inkml:brushProperty name="color" value="#E71224"/>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t>09/12/2025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t>5</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t>6</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noRot="1" noChangeAspect="1"/>
          </p:cNvSpPr>
          <p:nvPr>
            <p:ph type="sldImg"/>
          </p:nvPr>
        </p:nvSpPr>
        <p:spPr>
          <a:xfrm>
            <a:off x="685800" y="1143000"/>
            <a:ext cx="5486400" cy="3086100"/>
          </a:xfrm>
          <a:prstGeom prst="rect">
            <a:avLst/>
          </a:prstGeom>
        </p:spPr>
      </p:sp>
      <p:sp>
        <p:nvSpPr>
          <p:cNvPr id="149"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panose="020B0604020202020204"/>
            </a:endParaRPr>
          </a:p>
        </p:txBody>
      </p:sp>
      <p:sp>
        <p:nvSpPr>
          <p:cNvPr id="150"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677DA20C-D3E3-4F02-A624-D52A93CA4942}" type="slidenum">
              <a:rPr lang="en-GB" sz="1200" b="0" strike="noStrike" spc="-1">
                <a:latin typeface="Times New Roman" panose="02020603050405020304"/>
              </a:rPr>
              <a:t>9</a:t>
            </a:fld>
            <a:endParaRPr lang="en-US" sz="1200" b="0" strike="noStrike" spc="-1">
              <a:latin typeface="Times New Roman" panose="02020603050405020304"/>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p:cNvPicPr>
            <a:picLocks noChangeAspect="1"/>
          </p:cNvPicPr>
          <p:nvPr userDrawn="1"/>
        </p:nvPicPr>
        <p:blipFill>
          <a:blip r:embed="rId3"/>
          <a:stretch>
            <a:fillRect/>
          </a:stretch>
        </p:blipFill>
        <p:spPr>
          <a:xfrm>
            <a:off x="2844000" y="2854800"/>
            <a:ext cx="6501600" cy="115363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t>‹#›</a:t>
            </a:fld>
            <a:endParaRPr lang="en-GB"/>
          </a:p>
        </p:txBody>
      </p:sp>
      <p:pic>
        <p:nvPicPr>
          <p:cNvPr id="8" name="Picture 7" descr="A picture containing drawing&#10;&#10;Description automatically generated"/>
          <p:cNvPicPr>
            <a:picLocks noChangeAspect="1"/>
          </p:cNvPicPr>
          <p:nvPr userDrawn="1"/>
        </p:nvPicPr>
        <p:blipFill>
          <a:blip r:embed="rId2" cstate="print"/>
          <a:stretch>
            <a:fillRect/>
          </a:stretch>
        </p:blipFill>
        <p:spPr>
          <a:xfrm>
            <a:off x="954000" y="5511600"/>
            <a:ext cx="2242800" cy="39795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t>‹#›</a:t>
            </a:fld>
            <a:endParaRPr lang="en-GB"/>
          </a:p>
        </p:txBody>
      </p:sp>
      <p:sp>
        <p:nvSpPr>
          <p:cNvPr id="9" name="Title 1"/>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p:cNvPicPr>
            <a:picLocks noChangeAspect="1"/>
          </p:cNvPicPr>
          <p:nvPr userDrawn="1"/>
        </p:nvPicPr>
        <p:blipFill>
          <a:blip r:embed="rId2"/>
          <a:stretch>
            <a:fillRect/>
          </a:stretch>
        </p:blipFill>
        <p:spPr>
          <a:xfrm>
            <a:off x="953998" y="5517266"/>
            <a:ext cx="2244881" cy="39690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0"/>
              </a:spcAft>
              <a:buClrTx/>
              <a:buSzTx/>
              <a:buFont typeface="Arial" panose="020B0604020202020204" pitchFamily="34" charset="0"/>
              <a:buNone/>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0"/>
              </a:spcAft>
              <a:buClrTx/>
              <a:buSzTx/>
              <a:buFont typeface="Arial" panose="020B0604020202020204" pitchFamily="34" charset="0"/>
              <a:buNone/>
              <a:defRPr/>
            </a:pPr>
            <a:r>
              <a:rPr lang="en-GB" b="0"/>
              <a:t>Add Text</a:t>
            </a:r>
            <a:endParaRPr lang="en-GB"/>
          </a:p>
        </p:txBody>
      </p:sp>
      <p:sp>
        <p:nvSpPr>
          <p:cNvPr id="6" name="Footer Placeholder 5"/>
          <p:cNvSpPr>
            <a:spLocks noGrp="1"/>
          </p:cNvSpPr>
          <p:nvPr>
            <p:ph type="ftr" sz="quarter" idx="11"/>
          </p:nvPr>
        </p:nvSpPr>
        <p:spPr/>
        <p:txBody>
          <a:bodyPr/>
          <a:lstStyle/>
          <a:p>
            <a:r>
              <a:rPr lang="en-GB"/>
              <a:t>PRESENTATION TITLE (ADD VIA INSERT, HEADER &amp; FOOTER)</a:t>
            </a:r>
          </a:p>
        </p:txBody>
      </p:sp>
      <p:sp>
        <p:nvSpPr>
          <p:cNvPr id="7" name="Slide Number Placeholder 6"/>
          <p:cNvSpPr>
            <a:spLocks noGrp="1"/>
          </p:cNvSpPr>
          <p:nvPr>
            <p:ph type="sldNum" sz="quarter" idx="12"/>
          </p:nvPr>
        </p:nvSpPr>
        <p:spPr/>
        <p:txBody>
          <a:bodyPr/>
          <a:lstStyle/>
          <a:p>
            <a:fld id="{E4D355CA-84B7-41B1-B164-8BB439CC7C6B}" type="slidenum">
              <a:rPr lang="en-GB" smtClean="0"/>
              <a:t>‹#›</a:t>
            </a:fld>
            <a:endParaRPr lang="en-GB"/>
          </a:p>
        </p:txBody>
      </p:sp>
      <p:sp>
        <p:nvSpPr>
          <p:cNvPr id="8" name="Rectangle 7"/>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p:cNvSpPr>
            <a:spLocks noGrp="1"/>
          </p:cNvSpPr>
          <p:nvPr>
            <p:ph type="ftr" sz="quarter" idx="11"/>
          </p:nvPr>
        </p:nvSpPr>
        <p:spPr/>
        <p:txBody>
          <a:bodyPr/>
          <a:lstStyle/>
          <a:p>
            <a:r>
              <a:rPr lang="en-GB"/>
              <a:t>PRESENTATION TITLE (ADD VIA INSERT, HEADER &amp; FOOTER)</a:t>
            </a:r>
          </a:p>
        </p:txBody>
      </p:sp>
      <p:sp>
        <p:nvSpPr>
          <p:cNvPr id="6" name="Slide Number Placeholder 5"/>
          <p:cNvSpPr>
            <a:spLocks noGrp="1"/>
          </p:cNvSpPr>
          <p:nvPr>
            <p:ph type="sldNum" sz="quarter" idx="12"/>
          </p:nvPr>
        </p:nvSpPr>
        <p:spPr/>
        <p:txBody>
          <a:bodyPr/>
          <a:lstStyle/>
          <a:p>
            <a:fld id="{E4D355CA-84B7-41B1-B164-8BB439CC7C6B}" type="slidenum">
              <a:rPr lang="en-GB" smtClean="0"/>
              <a:t>‹#›</a:t>
            </a:fld>
            <a:endParaRPr lang="en-GB"/>
          </a:p>
        </p:txBody>
      </p:sp>
      <p:sp>
        <p:nvSpPr>
          <p:cNvPr id="7" name="Rectangle 6"/>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p:cNvSpPr>
            <a:spLocks noGrp="1"/>
          </p:cNvSpPr>
          <p:nvPr>
            <p:ph type="sldNum" sz="quarter" idx="12"/>
          </p:nvPr>
        </p:nvSpPr>
        <p:spPr/>
        <p:txBody>
          <a:bodyPr/>
          <a:lstStyle/>
          <a:p>
            <a:fld id="{E4D355CA-84B7-41B1-B164-8BB439CC7C6B}" type="slidenum">
              <a:rPr lang="en-GB" smtClean="0"/>
              <a:t>‹#›</a:t>
            </a:fld>
            <a:endParaRPr lang="en-GB"/>
          </a:p>
        </p:txBody>
      </p:sp>
      <p:sp>
        <p:nvSpPr>
          <p:cNvPr id="7" name="Rectangle 6"/>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t>‹#›</a:t>
            </a:fld>
            <a:endParaRPr lang="en-GB"/>
          </a:p>
        </p:txBody>
      </p:sp>
      <p:sp>
        <p:nvSpPr>
          <p:cNvPr id="8" name="Content Placeholder 2"/>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Content Placeholder 3"/>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p:cNvSpPr>
            <a:spLocks noGrp="1"/>
          </p:cNvSpPr>
          <p:nvPr>
            <p:ph type="ftr" sz="quarter" idx="11"/>
          </p:nvPr>
        </p:nvSpPr>
        <p:spPr/>
        <p:txBody>
          <a:bodyPr/>
          <a:lstStyle/>
          <a:p>
            <a:r>
              <a:rPr lang="en-GB"/>
              <a:t>PRESENTATION TITLE (ADD VIA INSERT, HEADER &amp; FOOTER)</a:t>
            </a:r>
          </a:p>
        </p:txBody>
      </p:sp>
      <p:sp>
        <p:nvSpPr>
          <p:cNvPr id="7" name="Slide Number Placeholder 6"/>
          <p:cNvSpPr>
            <a:spLocks noGrp="1"/>
          </p:cNvSpPr>
          <p:nvPr>
            <p:ph type="sldNum" sz="quarter" idx="12"/>
          </p:nvPr>
        </p:nvSpPr>
        <p:spPr/>
        <p:txBody>
          <a:bodyPr/>
          <a:lstStyle/>
          <a:p>
            <a:fld id="{E4D355CA-84B7-41B1-B164-8BB439CC7C6B}" type="slidenum">
              <a:rPr lang="en-GB" smtClean="0"/>
              <a:t>‹#›</a:t>
            </a:fld>
            <a:endParaRPr lang="en-GB"/>
          </a:p>
        </p:txBody>
      </p:sp>
      <p:sp>
        <p:nvSpPr>
          <p:cNvPr id="10" name="Picture Placeholder 9"/>
          <p:cNvSpPr>
            <a:spLocks noGrp="1"/>
          </p:cNvSpPr>
          <p:nvPr>
            <p:ph type="pic" sz="quarter" idx="13"/>
          </p:nvPr>
        </p:nvSpPr>
        <p:spPr>
          <a:xfrm>
            <a:off x="954088" y="2728913"/>
            <a:ext cx="6400800" cy="4129087"/>
          </a:xfrm>
        </p:spPr>
        <p:txBody>
          <a:bodyPr/>
          <a:lstStyle/>
          <a:p>
            <a:endParaRPr lang="en-GB"/>
          </a:p>
        </p:txBody>
      </p:sp>
      <p:sp>
        <p:nvSpPr>
          <p:cNvPr id="11" name="Rectangle 10"/>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6" name="Footer Placeholder 5"/>
          <p:cNvSpPr>
            <a:spLocks noGrp="1"/>
          </p:cNvSpPr>
          <p:nvPr>
            <p:ph type="ftr" sz="quarter" idx="11"/>
          </p:nvPr>
        </p:nvSpPr>
        <p:spPr/>
        <p:txBody>
          <a:bodyPr/>
          <a:lstStyle/>
          <a:p>
            <a:r>
              <a:rPr lang="en-GB"/>
              <a:t>PRESENTATION TITLE (ADD VIA INSERT, HEADER &amp; FOOTER)</a:t>
            </a:r>
          </a:p>
        </p:txBody>
      </p:sp>
      <p:sp>
        <p:nvSpPr>
          <p:cNvPr id="7" name="Slide Number Placeholder 6"/>
          <p:cNvSpPr>
            <a:spLocks noGrp="1"/>
          </p:cNvSpPr>
          <p:nvPr>
            <p:ph type="sldNum" sz="quarter" idx="12"/>
          </p:nvPr>
        </p:nvSpPr>
        <p:spPr/>
        <p:txBody>
          <a:bodyPr/>
          <a:lstStyle/>
          <a:p>
            <a:fld id="{E4D355CA-84B7-41B1-B164-8BB439CC7C6B}" type="slidenum">
              <a:rPr lang="en-GB" smtClean="0"/>
              <a:t>‹#›</a:t>
            </a:fld>
            <a:endParaRPr lang="en-GB"/>
          </a:p>
        </p:txBody>
      </p:sp>
      <p:sp>
        <p:nvSpPr>
          <p:cNvPr id="8" name="Rectangle 7"/>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p:cNvSpPr>
            <a:spLocks noGrp="1"/>
          </p:cNvSpPr>
          <p:nvPr>
            <p:ph type="media" sz="quarter" idx="10"/>
          </p:nvPr>
        </p:nvSpPr>
        <p:spPr>
          <a:xfrm>
            <a:off x="140400" y="140400"/>
            <a:ext cx="11916000" cy="6580800"/>
          </a:xfrm>
          <a:solidFill>
            <a:schemeClr val="bg1"/>
          </a:solidFill>
        </p:spPr>
        <p:txBody>
          <a:bodyPr/>
          <a:lstStyle/>
          <a:p>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GB"/>
              <a:t>PRESENTATION TITLE (ADD VIA INSERT, HEADER &amp; FOOTER)</a:t>
            </a:r>
          </a:p>
        </p:txBody>
      </p:sp>
      <p:sp>
        <p:nvSpPr>
          <p:cNvPr id="6" name="Slide Number Placeholder 5"/>
          <p:cNvSpPr>
            <a:spLocks noGrp="1"/>
          </p:cNvSpPr>
          <p:nvPr>
            <p:ph type="sldNum" sz="quarter" idx="12"/>
          </p:nvPr>
        </p:nvSpPr>
        <p:spPr/>
        <p:txBody>
          <a:bodyPr/>
          <a:lstStyle/>
          <a:p>
            <a:fld id="{E4D355CA-84B7-41B1-B164-8BB439CC7C6B}" type="slidenum">
              <a:rPr lang="en-GB" smtClean="0"/>
              <a:t>‹#›</a:t>
            </a:fld>
            <a:endParaRPr lang="en-GB"/>
          </a:p>
        </p:txBody>
      </p:sp>
      <p:sp>
        <p:nvSpPr>
          <p:cNvPr id="7" name="Rectangle 6"/>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0"/>
              </a:spcAft>
              <a:buClrTx/>
              <a:buSzTx/>
              <a:buFont typeface="Arial" panose="020B0604020202020204" pitchFamily="34" charset="0"/>
              <a:buNone/>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0"/>
              </a:spcAft>
              <a:buClrTx/>
              <a:buSzTx/>
              <a:buFont typeface="Arial" panose="020B0604020202020204" pitchFamily="34" charset="0"/>
              <a:buNone/>
              <a:defRPr/>
            </a:pPr>
            <a:r>
              <a:rPr lang="en-GB"/>
              <a:t>Add </a:t>
            </a:r>
            <a:r>
              <a:rPr lang="en-US"/>
              <a:t>Text</a:t>
            </a:r>
            <a:endParaRPr lang="en-GB"/>
          </a:p>
        </p:txBody>
      </p:sp>
      <p:sp>
        <p:nvSpPr>
          <p:cNvPr id="18" name="Content Placeholder 2"/>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0"/>
              </a:spcAft>
              <a:buClrTx/>
              <a:buSzTx/>
              <a:buFont typeface="Arial" panose="020B0604020202020204" pitchFamily="34" charset="0"/>
              <a:buNone/>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0"/>
              </a:spcAft>
              <a:buClrTx/>
              <a:buSzTx/>
              <a:buFont typeface="Arial" panose="020B0604020202020204" pitchFamily="34" charset="0"/>
              <a:buNone/>
              <a:defRPr/>
            </a:pPr>
            <a:r>
              <a:rPr lang="en-GB"/>
              <a:t>Add </a:t>
            </a:r>
            <a:r>
              <a:rPr lang="en-US"/>
              <a:t>Text</a:t>
            </a:r>
          </a:p>
        </p:txBody>
      </p:sp>
      <p:sp>
        <p:nvSpPr>
          <p:cNvPr id="8" name="Picture Placeholder 7"/>
          <p:cNvSpPr>
            <a:spLocks noGrp="1"/>
          </p:cNvSpPr>
          <p:nvPr>
            <p:ph type="pic" sz="quarter" idx="23"/>
          </p:nvPr>
        </p:nvSpPr>
        <p:spPr>
          <a:xfrm>
            <a:off x="1462175" y="1640942"/>
            <a:ext cx="2160587" cy="2160588"/>
          </a:xfrm>
        </p:spPr>
        <p:txBody>
          <a:bodyPr/>
          <a:lstStyle/>
          <a:p>
            <a:endParaRPr lang="en-US"/>
          </a:p>
        </p:txBody>
      </p:sp>
      <p:sp>
        <p:nvSpPr>
          <p:cNvPr id="20" name="Picture Placeholder 7"/>
          <p:cNvSpPr>
            <a:spLocks noGrp="1"/>
          </p:cNvSpPr>
          <p:nvPr>
            <p:ph type="pic" sz="quarter" idx="24"/>
          </p:nvPr>
        </p:nvSpPr>
        <p:spPr>
          <a:xfrm>
            <a:off x="5015705" y="1640942"/>
            <a:ext cx="2160587" cy="2160588"/>
          </a:xfrm>
        </p:spPr>
        <p:txBody>
          <a:bodyPr/>
          <a:lstStyle/>
          <a:p>
            <a:endParaRPr lang="en-US"/>
          </a:p>
        </p:txBody>
      </p:sp>
      <p:sp>
        <p:nvSpPr>
          <p:cNvPr id="21" name="Picture Placeholder 7"/>
          <p:cNvSpPr>
            <a:spLocks noGrp="1"/>
          </p:cNvSpPr>
          <p:nvPr>
            <p:ph type="pic" sz="quarter" idx="25"/>
          </p:nvPr>
        </p:nvSpPr>
        <p:spPr>
          <a:xfrm>
            <a:off x="8569236" y="1640942"/>
            <a:ext cx="2160587" cy="2160588"/>
          </a:xfrm>
        </p:spPr>
        <p:txBody>
          <a:body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srcRect/>
          <a:stretch>
            <a:fillRect/>
          </a:stretch>
        </p:blipFill>
        <p:spPr>
          <a:xfrm>
            <a:off x="954002" y="5511600"/>
            <a:ext cx="2242795" cy="397958"/>
          </a:xfrm>
          <a:prstGeom prst="rect">
            <a:avLst/>
          </a:prstGeom>
        </p:spPr>
      </p:pic>
      <p:sp>
        <p:nvSpPr>
          <p:cNvPr id="2" name="Title 1"/>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5" spc="-300" baseline="0" dirty="0">
                <a:solidFill>
                  <a:schemeClr val="bg1"/>
                </a:solidFill>
              </a:defRPr>
            </a:lvl1pPr>
          </a:lstStyle>
          <a:p>
            <a:pPr lvl="0">
              <a:lnSpc>
                <a:spcPts val="8185"/>
              </a:lnSpc>
            </a:pPr>
            <a:r>
              <a:rPr lang="en-US"/>
              <a:t>Click to edit Master title style</a:t>
            </a:r>
            <a:endParaRPr lang="en-GB"/>
          </a:p>
        </p:txBody>
      </p:sp>
      <p:sp>
        <p:nvSpPr>
          <p:cNvPr id="5" name="Footer Placeholder 4"/>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t>‹#›</a:t>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0"/>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0"/>
        </a:spcAft>
        <a:buFont typeface="Arial" panose="020B0604020202020204" pitchFamily="34" charset="0"/>
        <a:buNone/>
        <a:defRPr sz="2400" kern="2000" spc="-100" baseline="0">
          <a:solidFill>
            <a:srgbClr val="203232"/>
          </a:solidFill>
          <a:latin typeface="+mn-lt"/>
          <a:ea typeface="+mn-ea"/>
          <a:cs typeface="+mn-cs"/>
        </a:defRPr>
      </a:lvl2pPr>
      <a:lvl3pPr marL="215900" indent="-215900" algn="l" defTabSz="914400" rtl="0" eaLnBrk="1" latinLnBrk="0" hangingPunct="1">
        <a:lnSpc>
          <a:spcPts val="2880"/>
        </a:lnSpc>
        <a:spcBef>
          <a:spcPts val="0"/>
        </a:spcBef>
        <a:spcAft>
          <a:spcPts val="990"/>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9.png"/><Relationship Id="rId17" Type="http://schemas.openxmlformats.org/officeDocument/2006/relationships/image" Target="../media/image11.png"/><Relationship Id="rId2" Type="http://schemas.openxmlformats.org/officeDocument/2006/relationships/image" Target="../media/image4.png"/><Relationship Id="rId16" Type="http://schemas.openxmlformats.org/officeDocument/2006/relationships/customXml" Target="../ink/ink8.xml"/><Relationship Id="rId1" Type="http://schemas.openxmlformats.org/officeDocument/2006/relationships/slideLayout" Target="../slideLayouts/slideLayout5.xml"/><Relationship Id="rId6" Type="http://schemas.openxmlformats.org/officeDocument/2006/relationships/image" Target="../media/image6.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image" Target="../media/image10.png"/><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customXml" Target="../ink/ink4.xml"/><Relationship Id="rId14" Type="http://schemas.openxmlformats.org/officeDocument/2006/relationships/customXml" Target="../ink/ink7.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883524" y="488743"/>
            <a:ext cx="10273911" cy="533111"/>
          </a:xfrm>
        </p:spPr>
        <p:txBody>
          <a:bodyPr/>
          <a:lstStyle/>
          <a:p>
            <a:r>
              <a:rPr lang="en-GB"/>
              <a:t>Instructions for Visualization and Analysis Demos</a:t>
            </a:r>
          </a:p>
        </p:txBody>
      </p:sp>
      <p:sp>
        <p:nvSpPr>
          <p:cNvPr id="4" name="Slide Number Placeholder 3"/>
          <p:cNvSpPr>
            <a:spLocks noGrp="1"/>
          </p:cNvSpPr>
          <p:nvPr>
            <p:ph type="sldNum" sz="quarter" idx="12"/>
          </p:nvPr>
        </p:nvSpPr>
        <p:spPr>
          <a:xfrm>
            <a:off x="10616400" y="483548"/>
            <a:ext cx="622800" cy="230832"/>
          </a:xfrm>
        </p:spPr>
        <p:txBody>
          <a:bodyPr/>
          <a:lstStyle/>
          <a:p>
            <a:fld id="{E4D355CA-84B7-41B1-B164-8BB439CC7C6B}" type="slidenum">
              <a:rPr lang="en-GB" smtClean="0"/>
              <a:t>1</a:t>
            </a:fld>
            <a:endParaRPr lang="en-GB"/>
          </a:p>
        </p:txBody>
      </p:sp>
      <p:sp>
        <p:nvSpPr>
          <p:cNvPr id="6" name="TextBox 5"/>
          <p:cNvSpPr txBox="1"/>
          <p:nvPr/>
        </p:nvSpPr>
        <p:spPr>
          <a:xfrm>
            <a:off x="801759" y="974929"/>
            <a:ext cx="10437439" cy="4524315"/>
          </a:xfrm>
          <a:prstGeom prst="rect">
            <a:avLst/>
          </a:prstGeom>
          <a:noFill/>
        </p:spPr>
        <p:txBody>
          <a:bodyPr wrap="square" lIns="91440" tIns="45720" rIns="91440" bIns="45720" rtlCol="0" anchor="t">
            <a:spAutoFit/>
          </a:bodyPr>
          <a:lstStyle/>
          <a:p>
            <a:r>
              <a:rPr lang="en-GB"/>
              <a:t>You have 3 minutes to present – be ready to share your screen, </a:t>
            </a:r>
            <a:r>
              <a:rPr lang="en-GB" b="1"/>
              <a:t>practice first</a:t>
            </a:r>
            <a:r>
              <a:rPr lang="en-GB"/>
              <a:t>. We can only offer you one opportunity to present.  Present your slides in “Slide Show” mode. Presentations will take place during the module Tutorial slots (see Canvas Announcements for links to join Tutorials via Teams).</a:t>
            </a:r>
          </a:p>
          <a:p>
            <a:endParaRPr lang="en-GB"/>
          </a:p>
          <a:p>
            <a:r>
              <a:rPr lang="en-GB"/>
              <a:t>The next few slides give you all the alternatives for how to present your Visualizations. You will select only </a:t>
            </a:r>
            <a:r>
              <a:rPr lang="en-GB" b="1"/>
              <a:t>one </a:t>
            </a:r>
            <a:r>
              <a:rPr lang="en-GB"/>
              <a:t>as fits your RQ. Before presenting DELETE all text (and instructions) that you do not use (including this slide).  You can then enlarge your selection, so it is clearly visible on the slide.</a:t>
            </a:r>
            <a:endParaRPr lang="en-GB">
              <a:cs typeface="Arial" panose="020B0604020202020204"/>
            </a:endParaRPr>
          </a:p>
          <a:p>
            <a:endParaRPr lang="en-GB"/>
          </a:p>
          <a:p>
            <a:r>
              <a:rPr lang="en-GB"/>
              <a:t>Appointment slots will appear on Canvas soon (calendar-7com1079-24).  Sign up early.  When space runs out, we cannot issue any further slots for this week.  If you do not turn up for your slot you will </a:t>
            </a:r>
            <a:r>
              <a:rPr lang="en-GB" i="1"/>
              <a:t>not</a:t>
            </a:r>
            <a:r>
              <a:rPr lang="en-GB"/>
              <a:t> be given another opportunity. Ideally, all the group members should attend but select one person to present. DO NOT SIGN UP unless one of your group can attend and present. You will not be graded on this.</a:t>
            </a:r>
            <a:endParaRPr lang="en-GB">
              <a:cs typeface="Arial" panose="020B0604020202020204"/>
            </a:endParaRPr>
          </a:p>
          <a:p>
            <a:endParaRPr lang="en-GB"/>
          </a:p>
          <a:p>
            <a:r>
              <a:rPr lang="en-GB"/>
              <a:t>We look forward to giving you feedback.  If your group is not presenting, still attend the tutorial as the feedback will help you too.</a:t>
            </a:r>
            <a:endParaRPr lang="en-GB">
              <a:cs typeface="Arial" panose="020B0604020202020204"/>
            </a:endParaRPr>
          </a:p>
        </p:txBody>
      </p:sp>
      <p:sp>
        <p:nvSpPr>
          <p:cNvPr id="3" name="TextBox 2"/>
          <p:cNvSpPr txBox="1"/>
          <p:nvPr/>
        </p:nvSpPr>
        <p:spPr>
          <a:xfrm>
            <a:off x="4037611" y="5300020"/>
            <a:ext cx="7588264" cy="1200329"/>
          </a:xfrm>
          <a:prstGeom prst="rect">
            <a:avLst/>
          </a:prstGeom>
          <a:noFill/>
        </p:spPr>
        <p:txBody>
          <a:bodyPr wrap="square" lIns="91440" tIns="45720" rIns="91440" bIns="45720" rtlCol="0" anchor="t">
            <a:spAutoFit/>
          </a:bodyPr>
          <a:lstStyle/>
          <a:p>
            <a:r>
              <a:rPr lang="en-GB" i="1" baseline="30000"/>
              <a:t>1</a:t>
            </a:r>
            <a:r>
              <a:rPr lang="en-GB" i="1"/>
              <a:t>At this point we assume you are using your allocated datasets (see group-dataset allocations on Slack Announcements).  Any changes to the Kaggle/</a:t>
            </a:r>
            <a:r>
              <a:rPr lang="en-GB" i="1" err="1"/>
              <a:t>Data.world</a:t>
            </a:r>
            <a:r>
              <a:rPr lang="en-GB" i="1"/>
              <a:t> csv/</a:t>
            </a:r>
            <a:r>
              <a:rPr lang="en-GB" i="1" err="1"/>
              <a:t>xlxs</a:t>
            </a:r>
            <a:r>
              <a:rPr lang="en-GB" i="1"/>
              <a:t> file you make such as merges, grouping, or size reduction must be done via an R script, not manually, not in excel.</a:t>
            </a:r>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8160" y="395003"/>
            <a:ext cx="10030680" cy="2159640"/>
          </a:xfrm>
        </p:spPr>
        <p:txBody>
          <a:bodyPr>
            <a:normAutofit/>
          </a:bodyPr>
          <a:lstStyle/>
          <a:p>
            <a:r>
              <a:rPr lang="en-US" sz="2700"/>
              <a:t>How your RQ + distribution of data (Histogram) leads to a statistical test. Visualization requirements highlighted in yellow</a:t>
            </a:r>
            <a:r>
              <a:rPr lang="en-US"/>
              <a:t>.</a:t>
            </a:r>
          </a:p>
        </p:txBody>
      </p:sp>
      <p:pic>
        <p:nvPicPr>
          <p:cNvPr id="9" name="Content Placeholder 8"/>
          <p:cNvPicPr>
            <a:picLocks noGrp="1" noChangeAspect="1"/>
          </p:cNvPicPr>
          <p:nvPr>
            <p:ph idx="1"/>
          </p:nvPr>
        </p:nvPicPr>
        <p:blipFill>
          <a:blip r:embed="rId2"/>
          <a:stretch>
            <a:fillRect/>
          </a:stretch>
        </p:blipFill>
        <p:spPr>
          <a:xfrm>
            <a:off x="2078182" y="1703508"/>
            <a:ext cx="8035636" cy="3744829"/>
          </a:xfrm>
        </p:spPr>
      </p:pic>
      <p:sp>
        <p:nvSpPr>
          <p:cNvPr id="10" name="TextBox 9"/>
          <p:cNvSpPr txBox="1"/>
          <p:nvPr/>
        </p:nvSpPr>
        <p:spPr>
          <a:xfrm>
            <a:off x="3479470" y="5852160"/>
            <a:ext cx="657996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t>Figure: Decision tree – how Research Questions relate to Visualizations and Statistical Test.</a:t>
            </a:r>
          </a:p>
        </p:txBody>
      </p:sp>
      <p:sp>
        <p:nvSpPr>
          <p:cNvPr id="11" name="TextBox 10"/>
          <p:cNvSpPr txBox="1"/>
          <p:nvPr/>
        </p:nvSpPr>
        <p:spPr>
          <a:xfrm>
            <a:off x="2698865" y="2119746"/>
            <a:ext cx="188560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1400"/>
              <a:t>Histogram &amp; Scatterplots</a:t>
            </a:r>
          </a:p>
        </p:txBody>
      </p:sp>
      <mc:AlternateContent xmlns:mc="http://schemas.openxmlformats.org/markup-compatibility/2006" xmlns:p14="http://schemas.microsoft.com/office/powerpoint/2010/main">
        <mc:Choice Requires="p14">
          <p:contentPart p14:bwMode="auto" r:id="rId3">
            <p14:nvContentPartPr>
              <p14:cNvPr id="12" name="Ink 11"/>
              <p14:cNvContentPartPr/>
              <p14:nvPr/>
            </p14:nvContentPartPr>
            <p14:xfrm>
              <a:off x="2855862" y="2301478"/>
              <a:ext cx="7620" cy="7620"/>
            </p14:xfrm>
          </p:contentPart>
        </mc:Choice>
        <mc:Fallback xmlns="">
          <p:pic>
            <p:nvPicPr>
              <p:cNvPr id="12" name="Ink 11"/>
            </p:nvPicPr>
            <p:blipFill>
              <a:blip r:embed="rId4"/>
            </p:blipFill>
            <p:spPr>
              <a:xfrm>
                <a:off x="2855862" y="2301478"/>
                <a:ext cx="7620" cy="7620"/>
              </a:xfrm>
              <a:prstGeom prst="rect"/>
            </p:spPr>
          </p:pic>
        </mc:Fallback>
      </mc:AlternateContent>
      <mc:AlternateContent xmlns:mc="http://schemas.openxmlformats.org/markup-compatibility/2006" xmlns:p14="http://schemas.microsoft.com/office/powerpoint/2010/main">
        <mc:Choice Requires="p14">
          <p:contentPart p14:bwMode="auto" r:id="rId5">
            <p14:nvContentPartPr>
              <p14:cNvPr id="13" name="Ink 12"/>
              <p14:cNvContentPartPr/>
              <p14:nvPr/>
            </p14:nvContentPartPr>
            <p14:xfrm>
              <a:off x="2855863" y="2231290"/>
              <a:ext cx="822540" cy="106054"/>
            </p14:xfrm>
          </p:contentPart>
        </mc:Choice>
        <mc:Fallback xmlns="">
          <p:pic>
            <p:nvPicPr>
              <p:cNvPr id="13" name="Ink 12"/>
            </p:nvPicPr>
            <p:blipFill>
              <a:blip r:embed="rId6"/>
            </p:blipFill>
            <p:spPr>
              <a:xfrm>
                <a:off x="2855863" y="2231290"/>
                <a:ext cx="822540" cy="106054"/>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14" name="Ink 13"/>
              <p14:cNvContentPartPr/>
              <p14:nvPr/>
            </p14:nvContentPartPr>
            <p14:xfrm>
              <a:off x="2827288" y="2415047"/>
              <a:ext cx="912316" cy="39245"/>
            </p14:xfrm>
          </p:contentPart>
        </mc:Choice>
        <mc:Fallback xmlns="">
          <p:pic>
            <p:nvPicPr>
              <p:cNvPr id="14" name="Ink 13"/>
            </p:nvPicPr>
            <p:blipFill>
              <a:blip r:embed="rId8"/>
            </p:blipFill>
            <p:spPr>
              <a:xfrm>
                <a:off x="2827288" y="2415047"/>
                <a:ext cx="912316" cy="39245"/>
              </a:xfrm>
              <a:prstGeom prst="rect"/>
            </p:spPr>
          </p:pic>
        </mc:Fallback>
      </mc:AlternateContent>
      <p:sp>
        <p:nvSpPr>
          <p:cNvPr id="15" name="TextBox 14"/>
          <p:cNvSpPr txBox="1"/>
          <p:nvPr/>
        </p:nvSpPr>
        <p:spPr>
          <a:xfrm>
            <a:off x="2942697" y="3249126"/>
            <a:ext cx="128362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1400"/>
              <a:t>Histogram and Boxplots</a:t>
            </a:r>
          </a:p>
        </p:txBody>
      </p:sp>
      <p:sp>
        <p:nvSpPr>
          <p:cNvPr id="18" name="TextBox 17"/>
          <p:cNvSpPr txBox="1"/>
          <p:nvPr/>
        </p:nvSpPr>
        <p:spPr>
          <a:xfrm>
            <a:off x="3343620" y="4850346"/>
            <a:ext cx="136640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1400"/>
              <a:t>Stacked bar chart (no histogram)</a:t>
            </a:r>
          </a:p>
        </p:txBody>
      </p:sp>
      <mc:AlternateContent xmlns:mc="http://schemas.openxmlformats.org/markup-compatibility/2006" xmlns:p14="http://schemas.microsoft.com/office/powerpoint/2010/main">
        <mc:Choice Requires="p14">
          <p:contentPart p14:bwMode="auto" r:id="rId9">
            <p14:nvContentPartPr>
              <p14:cNvPr id="23" name="Ink 22"/>
              <p14:cNvContentPartPr/>
              <p14:nvPr/>
            </p14:nvContentPartPr>
            <p14:xfrm>
              <a:off x="3343620" y="4971248"/>
              <a:ext cx="836960" cy="117475"/>
            </p14:xfrm>
          </p:contentPart>
        </mc:Choice>
        <mc:Fallback xmlns="">
          <p:pic>
            <p:nvPicPr>
              <p:cNvPr id="23" name="Ink 22"/>
            </p:nvPicPr>
            <p:blipFill>
              <a:blip r:embed="rId10"/>
            </p:blipFill>
            <p:spPr>
              <a:xfrm>
                <a:off x="3343620" y="4971248"/>
                <a:ext cx="836960" cy="117475"/>
              </a:xfrm>
              <a:prstGeom prst="rect"/>
            </p:spPr>
          </p:pic>
        </mc:Fallback>
      </mc:AlternateContent>
      <mc:AlternateContent xmlns:mc="http://schemas.openxmlformats.org/markup-compatibility/2006" xmlns:p14="http://schemas.microsoft.com/office/powerpoint/2010/main">
        <mc:Choice Requires="p14">
          <p:contentPart p14:bwMode="auto" r:id="rId11">
            <p14:nvContentPartPr>
              <p14:cNvPr id="24" name="Ink 23"/>
              <p14:cNvContentPartPr/>
              <p14:nvPr/>
            </p14:nvContentPartPr>
            <p14:xfrm>
              <a:off x="3495097" y="5326544"/>
              <a:ext cx="366611" cy="145562"/>
            </p14:xfrm>
          </p:contentPart>
        </mc:Choice>
        <mc:Fallback xmlns="">
          <p:pic>
            <p:nvPicPr>
              <p:cNvPr id="24" name="Ink 23"/>
            </p:nvPicPr>
            <p:blipFill>
              <a:blip r:embed="rId12"/>
            </p:blipFill>
            <p:spPr>
              <a:xfrm>
                <a:off x="3495097" y="5326544"/>
                <a:ext cx="366611" cy="145562"/>
              </a:xfrm>
              <a:prstGeom prst="rect"/>
            </p:spPr>
          </p:pic>
        </mc:Fallback>
      </mc:AlternateContent>
      <mc:AlternateContent xmlns:mc="http://schemas.openxmlformats.org/markup-compatibility/2006" xmlns:p14="http://schemas.microsoft.com/office/powerpoint/2010/main">
        <mc:Choice Requires="p14">
          <p:contentPart p14:bwMode="auto" r:id="rId13">
            <p14:nvContentPartPr>
              <p14:cNvPr id="25" name="Ink 24"/>
              <p14:cNvContentPartPr/>
              <p14:nvPr/>
            </p14:nvContentPartPr>
            <p14:xfrm>
              <a:off x="2836812" y="3568303"/>
              <a:ext cx="7620" cy="7620"/>
            </p14:xfrm>
          </p:contentPart>
        </mc:Choice>
        <mc:Fallback xmlns="">
          <p:pic>
            <p:nvPicPr>
              <p:cNvPr id="25" name="Ink 24"/>
            </p:nvPicPr>
            <p:blipFill>
              <a:blip r:embed="rId4"/>
            </p:blipFill>
            <p:spPr>
              <a:xfrm>
                <a:off x="2836812" y="3568303"/>
                <a:ext cx="7620" cy="7620"/>
              </a:xfrm>
              <a:prstGeom prst="rect"/>
            </p:spPr>
          </p:pic>
        </mc:Fallback>
      </mc:AlternateContent>
      <mc:AlternateContent xmlns:mc="http://schemas.openxmlformats.org/markup-compatibility/2006" xmlns:p14="http://schemas.microsoft.com/office/powerpoint/2010/main">
        <mc:Choice Requires="p14">
          <p:contentPart p14:bwMode="auto" r:id="rId14">
            <p14:nvContentPartPr>
              <p14:cNvPr id="26" name="Ink 25"/>
              <p14:cNvContentPartPr/>
              <p14:nvPr/>
            </p14:nvContentPartPr>
            <p14:xfrm>
              <a:off x="2942697" y="3323665"/>
              <a:ext cx="997984" cy="334667"/>
            </p14:xfrm>
          </p:contentPart>
        </mc:Choice>
        <mc:Fallback xmlns="">
          <p:pic>
            <p:nvPicPr>
              <p:cNvPr id="26" name="Ink 25"/>
            </p:nvPicPr>
            <p:blipFill>
              <a:blip r:embed="rId15"/>
            </p:blipFill>
            <p:spPr>
              <a:xfrm>
                <a:off x="2942697" y="3323665"/>
                <a:ext cx="997984" cy="334667"/>
              </a:xfrm>
              <a:prstGeom prst="rect"/>
            </p:spPr>
          </p:pic>
        </mc:Fallback>
      </mc:AlternateContent>
      <mc:AlternateContent xmlns:mc="http://schemas.openxmlformats.org/markup-compatibility/2006" xmlns:p14="http://schemas.microsoft.com/office/powerpoint/2010/main">
        <mc:Choice Requires="p14">
          <p:contentPart p14:bwMode="auto" r:id="rId16">
            <p14:nvContentPartPr>
              <p14:cNvPr id="28" name="Ink 27"/>
              <p14:cNvContentPartPr/>
              <p14:nvPr/>
            </p14:nvContentPartPr>
            <p14:xfrm>
              <a:off x="3495097" y="6237656"/>
              <a:ext cx="1265620" cy="97352"/>
            </p14:xfrm>
          </p:contentPart>
        </mc:Choice>
        <mc:Fallback xmlns="">
          <p:pic>
            <p:nvPicPr>
              <p:cNvPr id="28" name="Ink 27"/>
            </p:nvPicPr>
            <p:blipFill>
              <a:blip r:embed="rId17"/>
            </p:blipFill>
            <p:spPr>
              <a:xfrm>
                <a:off x="3495097" y="6237656"/>
                <a:ext cx="1265620" cy="97352"/>
              </a:xfrm>
              <a:prstGeom prst="rect"/>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t>Visualization and Analysis – </a:t>
            </a:r>
            <a:br>
              <a:rPr lang="en-US"/>
            </a:br>
            <a:r>
              <a:rPr lang="en-US" sz="4000"/>
              <a:t>Tutorial Presentation for Feedback</a:t>
            </a:r>
            <a:br>
              <a:rPr lang="en-US" sz="4000"/>
            </a:br>
            <a:r>
              <a:rPr lang="en-US" sz="2200"/>
              <a:t>Date: </a:t>
            </a:r>
            <a:br>
              <a:rPr lang="en-US" sz="8000"/>
            </a:br>
            <a:endParaRPr lang="en-US"/>
          </a:p>
        </p:txBody>
      </p:sp>
      <p:sp>
        <p:nvSpPr>
          <p:cNvPr id="3" name="Subtitle 2"/>
          <p:cNvSpPr>
            <a:spLocks noGrp="1"/>
          </p:cNvSpPr>
          <p:nvPr>
            <p:ph type="subTitle" idx="1"/>
          </p:nvPr>
        </p:nvSpPr>
        <p:spPr>
          <a:xfrm>
            <a:off x="585470" y="650240"/>
            <a:ext cx="10031095" cy="1929765"/>
          </a:xfrm>
        </p:spPr>
        <p:txBody>
          <a:bodyPr/>
          <a:lstStyle/>
          <a:p>
            <a:r>
              <a:rPr lang="en-US" sz="2000"/>
              <a:t>Group Id:          A172                                               Name of Student Presenting:</a:t>
            </a:r>
          </a:p>
        </p:txBody>
      </p:sp>
      <p:sp>
        <p:nvSpPr>
          <p:cNvPr id="4" name="Footer Placeholder 3"/>
          <p:cNvSpPr>
            <a:spLocks noGrp="1"/>
          </p:cNvSpPr>
          <p:nvPr>
            <p:ph type="ftr" sz="quarter" idx="11"/>
          </p:nvPr>
        </p:nvSpPr>
        <p:spPr>
          <a:xfrm>
            <a:off x="965289" y="274320"/>
            <a:ext cx="10455567" cy="736245"/>
          </a:xfrm>
        </p:spPr>
        <p:txBody>
          <a:bodyPr/>
          <a:lstStyle/>
          <a:p>
            <a:r>
              <a:rPr lang="en-GB" dirty="0"/>
              <a:t>7COM1079-2025  Student Group No:                    Names of Student Attendees  (all group should attend to get feedback): </a:t>
            </a:r>
          </a:p>
        </p:txBody>
      </p:sp>
      <p:sp>
        <p:nvSpPr>
          <p:cNvPr id="5" name="Slide Number Placeholder 4"/>
          <p:cNvSpPr>
            <a:spLocks noGrp="1"/>
          </p:cNvSpPr>
          <p:nvPr>
            <p:ph type="sldNum" sz="quarter" idx="12"/>
          </p:nvPr>
        </p:nvSpPr>
        <p:spPr/>
        <p:txBody>
          <a:bodyPr/>
          <a:lstStyle/>
          <a:p>
            <a:fld id="{E4D355CA-84B7-41B1-B164-8BB439CC7C6B}" type="slidenum">
              <a:rPr lang="en-GB" smtClean="0"/>
              <a:t>3</a:t>
            </a:fld>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942200" y="1355611"/>
            <a:ext cx="7200000" cy="360000"/>
          </a:xfrm>
        </p:spPr>
        <p:txBody>
          <a:bodyPr/>
          <a:lstStyle/>
          <a:p>
            <a:r>
              <a:rPr lang="en-US"/>
              <a:t>Part 1: VISUALISATION</a:t>
            </a:r>
            <a:endParaRPr lang="en-GB"/>
          </a:p>
        </p:txBody>
      </p:sp>
      <p:sp>
        <p:nvSpPr>
          <p:cNvPr id="3" name="Footer Placeholder 2"/>
          <p:cNvSpPr>
            <a:spLocks noGrp="1"/>
          </p:cNvSpPr>
          <p:nvPr>
            <p:ph type="ftr" sz="quarter" idx="11"/>
          </p:nvPr>
        </p:nvSpPr>
        <p:spPr/>
        <p:txBody>
          <a:bodyPr/>
          <a:lstStyle/>
          <a:p>
            <a:r>
              <a:rPr lang="en-GB"/>
              <a:t>PRESENTATION TITLE (ADD VIA INSERT, HEADER &amp; FOOTER)</a:t>
            </a:r>
          </a:p>
        </p:txBody>
      </p:sp>
      <p:sp>
        <p:nvSpPr>
          <p:cNvPr id="4" name="Slide Number Placeholder 3"/>
          <p:cNvSpPr>
            <a:spLocks noGrp="1"/>
          </p:cNvSpPr>
          <p:nvPr>
            <p:ph type="sldNum" sz="quarter" idx="12"/>
          </p:nvPr>
        </p:nvSpPr>
        <p:spPr/>
        <p:txBody>
          <a:bodyPr/>
          <a:lstStyle/>
          <a:p>
            <a:fld id="{E4D355CA-84B7-41B1-B164-8BB439CC7C6B}" type="slidenum">
              <a:rPr lang="en-GB" smtClean="0"/>
              <a:t>4</a:t>
            </a:fld>
            <a:endParaRPr lang="en-GB"/>
          </a:p>
        </p:txBody>
      </p:sp>
      <p:sp>
        <p:nvSpPr>
          <p:cNvPr id="5" name="Title 4"/>
          <p:cNvSpPr>
            <a:spLocks noGrp="1"/>
          </p:cNvSpPr>
          <p:nvPr>
            <p:ph type="ctrTitle"/>
          </p:nvPr>
        </p:nvSpPr>
        <p:spPr>
          <a:xfrm>
            <a:off x="754062" y="1845002"/>
            <a:ext cx="10683875" cy="3744411"/>
          </a:xfrm>
        </p:spPr>
        <p:txBody>
          <a:bodyPr>
            <a:noAutofit/>
          </a:bodyPr>
          <a:lstStyle/>
          <a:p>
            <a:pPr>
              <a:lnSpc>
                <a:spcPct val="150000"/>
              </a:lnSpc>
            </a:pPr>
            <a:r>
              <a:rPr lang="en-US" altLang="en-GB" sz="2400" spc="0" dirty="0">
                <a:solidFill>
                  <a:srgbClr val="FF0000"/>
                </a:solidFill>
                <a:latin typeface="Calibri" panose="020F0502020204030204" pitchFamily="34" charset="0"/>
                <a:ea typeface="Calibri" panose="020F0502020204030204" pitchFamily="34" charset="0"/>
                <a:cs typeface="Calibri" panose="020F0502020204030204" pitchFamily="34" charset="0"/>
              </a:rPr>
              <a:t>our reasearch question: </a:t>
            </a:r>
            <a:r>
              <a:rPr lang="en-US" altLang="en-GB" sz="2400" spc="0" dirty="0">
                <a:solidFill>
                  <a:schemeClr val="tx1"/>
                </a:solidFill>
                <a:latin typeface="Calibri" panose="020F0502020204030204" pitchFamily="34" charset="0"/>
                <a:ea typeface="Calibri" panose="020F0502020204030204" pitchFamily="34" charset="0"/>
                <a:cs typeface="Calibri" panose="020F0502020204030204" pitchFamily="34" charset="0"/>
              </a:rPr>
              <a:t>“</a:t>
            </a:r>
            <a:r>
              <a:rPr lang="en-US" altLang="en-IE" sz="2400" b="0" spc="0"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mn-ea"/>
              </a:rPr>
              <a:t>I</a:t>
            </a:r>
            <a:r>
              <a:rPr lang="en-US" altLang="en-US" sz="2400" b="0" spc="0"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mn-ea"/>
              </a:rPr>
              <a:t>s there a difference in the mean of  </a:t>
            </a:r>
            <a:r>
              <a:rPr lang="en-US" altLang="en-IE" sz="2400" b="0" spc="0"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mn-ea"/>
              </a:rPr>
              <a:t>Critic score of </a:t>
            </a:r>
            <a:r>
              <a:rPr lang="en-US" altLang="en-IE" sz="2400" b="0" spc="0" dirty="0" err="1">
                <a:solidFill>
                  <a:schemeClr val="tx1"/>
                </a:solidFill>
                <a:effectLst/>
                <a:latin typeface="Calibri" panose="020F0502020204030204" pitchFamily="34" charset="0"/>
                <a:ea typeface="Calibri" panose="020F0502020204030204" pitchFamily="34" charset="0"/>
                <a:cs typeface="Calibri" panose="020F0502020204030204" pitchFamily="34" charset="0"/>
                <a:sym typeface="+mn-ea"/>
              </a:rPr>
              <a:t>vedio</a:t>
            </a:r>
            <a:r>
              <a:rPr lang="en-US" altLang="en-IE" sz="2400" b="0" spc="0"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mn-ea"/>
              </a:rPr>
              <a:t> games </a:t>
            </a:r>
            <a:r>
              <a:rPr lang="en-US" altLang="en-US" sz="2400" b="0" spc="0"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mn-ea"/>
              </a:rPr>
              <a:t> between the “Nintendo publisher “and Other </a:t>
            </a:r>
            <a:r>
              <a:rPr lang="en-US" altLang="en-IE" sz="2400" b="0" spc="0"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mn-ea"/>
              </a:rPr>
              <a:t>Publishers “.</a:t>
            </a:r>
            <a:br>
              <a:rPr lang="en-US" altLang="en-IE" sz="2400" b="0" spc="0"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mn-ea"/>
              </a:rPr>
            </a:br>
            <a:r>
              <a:rPr lang="en-US" altLang="en-GB" sz="2400" b="0" spc="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 </a:t>
            </a:r>
            <a:r>
              <a:rPr lang="en-GB" sz="2400" b="0" spc="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Null hypothesis (H</a:t>
            </a:r>
            <a:r>
              <a:rPr lang="en-GB" sz="2400" b="0" spc="0" baseline="-2500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0</a:t>
            </a:r>
            <a:r>
              <a:rPr lang="en-GB" sz="2400" b="0" spc="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 There is </a:t>
            </a:r>
            <a:r>
              <a:rPr lang="en-GB" sz="2400" spc="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no</a:t>
            </a:r>
            <a:r>
              <a:rPr lang="en-GB" sz="2400" b="0" spc="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 difference in the mean of the </a:t>
            </a:r>
            <a:r>
              <a:rPr lang="en-US" altLang="en-GB" sz="2400" b="0" spc="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Critic score </a:t>
            </a:r>
            <a:r>
              <a:rPr lang="en-GB" sz="2400" b="0" spc="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 between/among subsets of the </a:t>
            </a:r>
            <a:r>
              <a:rPr lang="en-US" altLang="en-GB" sz="2400" b="0" spc="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Publishers</a:t>
            </a:r>
            <a:r>
              <a:rPr lang="en-GB" sz="2400" b="0" spc="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   </a:t>
            </a:r>
            <a:br>
              <a:rPr lang="en-GB" sz="2400" b="0" spc="0" dirty="0">
                <a:solidFill>
                  <a:srgbClr val="FF0000"/>
                </a:solidFill>
                <a:latin typeface="Calibri" panose="020F0502020204030204" pitchFamily="34" charset="0"/>
                <a:ea typeface="Calibri" panose="020F0502020204030204" pitchFamily="34" charset="0"/>
                <a:cs typeface="Calibri" panose="020F0502020204030204" pitchFamily="34" charset="0"/>
              </a:rPr>
            </a:br>
            <a:r>
              <a:rPr lang="en-GB" sz="2400" b="0" spc="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Alt hypothesis (H</a:t>
            </a:r>
            <a:r>
              <a:rPr lang="en-GB" sz="2400" b="0" spc="0" baseline="-2500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1</a:t>
            </a:r>
            <a:r>
              <a:rPr lang="en-GB" sz="2400" b="0" spc="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 : There is difference in the mean of the </a:t>
            </a:r>
            <a:r>
              <a:rPr lang="en-US" altLang="en-GB" sz="2400" b="0" spc="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Critic score </a:t>
            </a:r>
            <a:r>
              <a:rPr lang="en-GB" sz="2400" b="0" spc="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 between/among subsets of the </a:t>
            </a:r>
            <a:r>
              <a:rPr lang="en-US" altLang="en-GB" sz="2400" b="0" spc="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Publishers</a:t>
            </a:r>
            <a:r>
              <a:rPr lang="en-GB" sz="2400" b="0" spc="0" dirty="0">
                <a:solidFill>
                  <a:srgbClr val="FF0000"/>
                </a:solidFill>
                <a:latin typeface="Calibri" panose="020F0502020204030204" pitchFamily="34" charset="0"/>
                <a:ea typeface="Calibri" panose="020F0502020204030204" pitchFamily="34" charset="0"/>
                <a:cs typeface="Calibri" panose="020F0502020204030204" pitchFamily="34" charset="0"/>
                <a:sym typeface="+mn-ea"/>
              </a:rPr>
              <a:t>.   </a:t>
            </a:r>
            <a:br>
              <a:rPr lang="en-US" altLang="en-IE" sz="2400" b="0" spc="0"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mn-ea"/>
              </a:rPr>
            </a:br>
            <a:br>
              <a:rPr lang="en-US" altLang="en-IE" sz="2400" b="0" spc="0"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mn-ea"/>
              </a:rPr>
            </a:br>
            <a:endParaRPr lang="en-US" altLang="en-IE" sz="2400" b="0" spc="0"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965288" y="791022"/>
            <a:ext cx="9129687" cy="230832"/>
          </a:xfrm>
        </p:spPr>
        <p:txBody>
          <a:bodyPr/>
          <a:lstStyle/>
          <a:p>
            <a:r>
              <a:rPr lang="en-GB" dirty="0"/>
              <a:t>7COM1079-2025  Student Group No:   </a:t>
            </a:r>
            <a:r>
              <a:rPr lang="en-US" altLang="en-GB" dirty="0"/>
              <a:t>A172</a:t>
            </a:r>
            <a:r>
              <a:rPr lang="en-GB" dirty="0"/>
              <a:t>                 Names of Student Group Attendees: </a:t>
            </a:r>
          </a:p>
        </p:txBody>
      </p:sp>
      <p:sp>
        <p:nvSpPr>
          <p:cNvPr id="4" name="Slide Number Placeholder 3"/>
          <p:cNvSpPr>
            <a:spLocks noGrp="1"/>
          </p:cNvSpPr>
          <p:nvPr>
            <p:ph type="sldNum" sz="quarter" idx="12"/>
          </p:nvPr>
        </p:nvSpPr>
        <p:spPr/>
        <p:txBody>
          <a:bodyPr/>
          <a:lstStyle/>
          <a:p>
            <a:fld id="{E4D355CA-84B7-41B1-B164-8BB439CC7C6B}" type="slidenum">
              <a:rPr lang="en-GB" smtClean="0"/>
              <a:t>5</a:t>
            </a:fld>
            <a:endParaRPr lang="en-GB"/>
          </a:p>
        </p:txBody>
      </p:sp>
      <mc:AlternateContent xmlns:mc="http://schemas.openxmlformats.org/markup-compatibility/2006" xmlns:p14="http://schemas.microsoft.com/office/powerpoint/2010/main">
        <mc:Choice Requires="p14">
          <p:contentPart p14:bwMode="auto" r:id="rId3">
            <p14:nvContentPartPr>
              <p14:cNvPr id="26" name="Ink 25"/>
              <p14:cNvContentPartPr/>
              <p14:nvPr/>
            </p14:nvContentPartPr>
            <p14:xfrm>
              <a:off x="11548041" y="2705494"/>
              <a:ext cx="360" cy="360"/>
            </p14:xfrm>
          </p:contentPart>
        </mc:Choice>
        <mc:Fallback xmlns="">
          <p:pic>
            <p:nvPicPr>
              <p:cNvPr id="26" name="Ink 25"/>
            </p:nvPicPr>
            <p:blipFill>
              <a:blip r:embed="rId4"/>
            </p:blipFill>
            <p:spPr>
              <a:xfrm>
                <a:off x="11548041" y="2705494"/>
                <a:ext cx="360" cy="360"/>
              </a:xfrm>
              <a:prstGeom prst="rect"/>
            </p:spPr>
          </p:pic>
        </mc:Fallback>
      </mc:AlternateContent>
      <p:pic>
        <p:nvPicPr>
          <p:cNvPr id="5" name="Picture 4">
            <a:extLst>
              <a:ext uri="{FF2B5EF4-FFF2-40B4-BE49-F238E27FC236}">
                <a16:creationId xmlns:a16="http://schemas.microsoft.com/office/drawing/2014/main" id="{19B3CBD1-BA21-F814-CF28-AEB6659A27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9186" y="1252546"/>
            <a:ext cx="11866180" cy="392905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GB"/>
              <a:t>PRE 7COM1079-2022  Student Group No:  ?????</a:t>
            </a:r>
          </a:p>
        </p:txBody>
      </p:sp>
      <p:sp>
        <p:nvSpPr>
          <p:cNvPr id="4" name="Slide Number Placeholder 3"/>
          <p:cNvSpPr>
            <a:spLocks noGrp="1"/>
          </p:cNvSpPr>
          <p:nvPr>
            <p:ph type="sldNum" sz="quarter" idx="12"/>
          </p:nvPr>
        </p:nvSpPr>
        <p:spPr/>
        <p:txBody>
          <a:bodyPr/>
          <a:lstStyle/>
          <a:p>
            <a:fld id="{E4D355CA-84B7-41B1-B164-8BB439CC7C6B}" type="slidenum">
              <a:rPr lang="en-GB" smtClean="0"/>
              <a:t>6</a:t>
            </a:fld>
            <a:endParaRPr lang="en-GB"/>
          </a:p>
        </p:txBody>
      </p:sp>
      <p:sp>
        <p:nvSpPr>
          <p:cNvPr id="7" name="TextBox 6"/>
          <p:cNvSpPr txBox="1"/>
          <p:nvPr/>
        </p:nvSpPr>
        <p:spPr>
          <a:xfrm>
            <a:off x="751960" y="6066978"/>
            <a:ext cx="11440040" cy="646331"/>
          </a:xfrm>
          <a:prstGeom prst="rect">
            <a:avLst/>
          </a:prstGeom>
          <a:solidFill>
            <a:schemeClr val="bg1">
              <a:lumMod val="95000"/>
            </a:schemeClr>
          </a:solidFill>
        </p:spPr>
        <p:txBody>
          <a:bodyPr wrap="square" rtlCol="0">
            <a:spAutoFit/>
          </a:bodyPr>
          <a:lstStyle/>
          <a:p>
            <a:r>
              <a:rPr lang="en-IE" sz="1800" b="1" dirty="0">
                <a:effectLst/>
                <a:latin typeface="Calibri" panose="020F0502020204030204" pitchFamily="34" charset="0"/>
                <a:ea typeface="Calibri" panose="020F0502020204030204" pitchFamily="34" charset="0"/>
                <a:cs typeface="Times New Roman" panose="02020603050405020304" pitchFamily="18" charset="0"/>
              </a:rPr>
              <a:t>Comparison of means</a:t>
            </a:r>
            <a:r>
              <a:rPr lang="en-IE" sz="1800" dirty="0">
                <a:effectLst/>
                <a:latin typeface="Calibri" panose="020F0502020204030204" pitchFamily="34" charset="0"/>
                <a:ea typeface="Calibri" panose="020F0502020204030204" pitchFamily="34" charset="0"/>
                <a:cs typeface="Times New Roman" panose="02020603050405020304" pitchFamily="18" charset="0"/>
              </a:rPr>
              <a:t> (or medians) analyses the difference between the mean (or median) value of a characteristic shared by members of two (or more) different populations/values.</a:t>
            </a:r>
            <a:endParaRPr lang="en-GB" dirty="0"/>
          </a:p>
        </p:txBody>
      </p:sp>
      <p:sp>
        <p:nvSpPr>
          <p:cNvPr id="8" name="Subtitle 7"/>
          <p:cNvSpPr>
            <a:spLocks noGrp="1"/>
          </p:cNvSpPr>
          <p:nvPr>
            <p:ph type="subTitle" idx="1"/>
          </p:nvPr>
        </p:nvSpPr>
        <p:spPr>
          <a:xfrm>
            <a:off x="965289" y="353630"/>
            <a:ext cx="10273911" cy="668224"/>
          </a:xfrm>
          <a:solidFill>
            <a:schemeClr val="bg2"/>
          </a:solidFill>
        </p:spPr>
        <p:txBody>
          <a:bodyPr/>
          <a:lstStyle/>
          <a:p>
            <a:pPr>
              <a:lnSpc>
                <a:spcPct val="100000"/>
              </a:lnSpc>
            </a:pPr>
            <a:r>
              <a:rPr lang="en-GB" dirty="0"/>
              <a:t>Comparison of means/medians</a:t>
            </a:r>
            <a:endParaRPr lang="en-GB" b="0" dirty="0"/>
          </a:p>
          <a:p>
            <a:pPr>
              <a:lnSpc>
                <a:spcPct val="100000"/>
              </a:lnSpc>
            </a:pPr>
            <a:r>
              <a:rPr lang="en-GB" b="0" i="1" dirty="0"/>
              <a:t>BOXPLOT</a:t>
            </a:r>
          </a:p>
        </p:txBody>
      </p:sp>
      <p:pic>
        <p:nvPicPr>
          <p:cNvPr id="5" name="Picture 4">
            <a:extLst>
              <a:ext uri="{FF2B5EF4-FFF2-40B4-BE49-F238E27FC236}">
                <a16:creationId xmlns:a16="http://schemas.microsoft.com/office/drawing/2014/main" id="{3018A700-EE15-889C-2F6F-2723940FE0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5394" y="1459246"/>
            <a:ext cx="6646605" cy="4607732"/>
          </a:xfrm>
          <a:prstGeom prst="rect">
            <a:avLst/>
          </a:prstGeom>
        </p:spPr>
      </p:pic>
      <p:sp>
        <p:nvSpPr>
          <p:cNvPr id="6" name="TextBox 5">
            <a:extLst>
              <a:ext uri="{FF2B5EF4-FFF2-40B4-BE49-F238E27FC236}">
                <a16:creationId xmlns:a16="http://schemas.microsoft.com/office/drawing/2014/main" id="{56555A86-ED48-5AAF-D28A-A993720768C7}"/>
              </a:ext>
            </a:extLst>
          </p:cNvPr>
          <p:cNvSpPr txBox="1"/>
          <p:nvPr/>
        </p:nvSpPr>
        <p:spPr>
          <a:xfrm>
            <a:off x="407831" y="1856574"/>
            <a:ext cx="5137561" cy="3046988"/>
          </a:xfrm>
          <a:prstGeom prst="rect">
            <a:avLst/>
          </a:prstGeom>
          <a:noFill/>
        </p:spPr>
        <p:txBody>
          <a:bodyPr wrap="square" rtlCol="0">
            <a:spAutoFit/>
          </a:bodyPr>
          <a:lstStyle/>
          <a:p>
            <a:r>
              <a:rPr lang="en-US" sz="1600" dirty="0" err="1"/>
              <a:t>df$Critic_Score</a:t>
            </a:r>
            <a:r>
              <a:rPr lang="en-US" sz="1600" dirty="0"/>
              <a:t> &lt;- </a:t>
            </a:r>
            <a:r>
              <a:rPr lang="en-US" sz="1600" dirty="0" err="1"/>
              <a:t>as.numeric</a:t>
            </a:r>
            <a:r>
              <a:rPr lang="en-US" sz="1600" dirty="0"/>
              <a:t>(</a:t>
            </a:r>
            <a:r>
              <a:rPr lang="en-US" sz="1600" dirty="0" err="1"/>
              <a:t>df$Critic_Score</a:t>
            </a:r>
            <a:r>
              <a:rPr lang="en-US" sz="1600" dirty="0"/>
              <a:t>)</a:t>
            </a:r>
          </a:p>
          <a:p>
            <a:endParaRPr lang="en-US" sz="1600" dirty="0"/>
          </a:p>
          <a:p>
            <a:r>
              <a:rPr lang="en-US" sz="1600" dirty="0" err="1"/>
              <a:t>df_compare</a:t>
            </a:r>
            <a:r>
              <a:rPr lang="en-US" sz="1600" dirty="0"/>
              <a:t> &lt;- </a:t>
            </a:r>
            <a:r>
              <a:rPr lang="en-US" sz="1600" dirty="0" err="1"/>
              <a:t>df</a:t>
            </a:r>
            <a:r>
              <a:rPr lang="en-US" sz="1600" dirty="0"/>
              <a:t> %&gt;%  mutate(Group = </a:t>
            </a:r>
            <a:r>
              <a:rPr lang="en-US" sz="1600" dirty="0" err="1"/>
              <a:t>ifelse</a:t>
            </a:r>
            <a:r>
              <a:rPr lang="en-US" sz="1600" dirty="0"/>
              <a:t>(Publisher == "Nintendo", "Nintendo", "Others"))</a:t>
            </a:r>
          </a:p>
          <a:p>
            <a:endParaRPr lang="en-US" sz="1600" dirty="0"/>
          </a:p>
          <a:p>
            <a:r>
              <a:rPr lang="en-US" sz="1600" dirty="0" err="1"/>
              <a:t>avg_scores</a:t>
            </a:r>
            <a:r>
              <a:rPr lang="en-US" sz="1600" dirty="0"/>
              <a:t> &lt;- </a:t>
            </a:r>
            <a:r>
              <a:rPr lang="en-US" sz="1600" dirty="0" err="1"/>
              <a:t>df_compare</a:t>
            </a:r>
            <a:r>
              <a:rPr lang="en-US" sz="1600" dirty="0"/>
              <a:t> %&gt;%  </a:t>
            </a:r>
            <a:r>
              <a:rPr lang="en-US" sz="1600" dirty="0" err="1"/>
              <a:t>group_by</a:t>
            </a:r>
            <a:r>
              <a:rPr lang="en-US" sz="1600" dirty="0"/>
              <a:t>(Group) %&gt;%   </a:t>
            </a:r>
            <a:r>
              <a:rPr lang="en-US" sz="1600" dirty="0" err="1"/>
              <a:t>summarise</a:t>
            </a:r>
            <a:r>
              <a:rPr lang="en-US" sz="1600" dirty="0"/>
              <a:t>(</a:t>
            </a:r>
            <a:r>
              <a:rPr lang="en-US" sz="1600" dirty="0" err="1"/>
              <a:t>avg_cs</a:t>
            </a:r>
            <a:r>
              <a:rPr lang="en-US" sz="1600" dirty="0"/>
              <a:t> = mean(</a:t>
            </a:r>
            <a:r>
              <a:rPr lang="en-US" sz="1600" dirty="0" err="1"/>
              <a:t>Critic_Score</a:t>
            </a:r>
            <a:r>
              <a:rPr lang="en-US" sz="1600" dirty="0"/>
              <a:t>, na.rm = TRUE))</a:t>
            </a:r>
          </a:p>
          <a:p>
            <a:endParaRPr lang="en-US" sz="1600" dirty="0"/>
          </a:p>
          <a:p>
            <a:r>
              <a:rPr lang="en-US" sz="1600" dirty="0"/>
              <a:t>boxplot(  </a:t>
            </a:r>
            <a:r>
              <a:rPr lang="en-US" sz="1600" dirty="0" err="1"/>
              <a:t>Critic_Score</a:t>
            </a:r>
            <a:r>
              <a:rPr lang="en-US" sz="1600" dirty="0"/>
              <a:t> ~ Group,  data = </a:t>
            </a:r>
            <a:r>
              <a:rPr lang="en-US" sz="1600" dirty="0" err="1"/>
              <a:t>df_compare</a:t>
            </a:r>
            <a:r>
              <a:rPr lang="en-US" sz="1600" dirty="0"/>
              <a:t>,  main = "Critic Scores: Nintendo vs Other Publishers",  </a:t>
            </a:r>
            <a:r>
              <a:rPr lang="en-US" sz="1600" dirty="0" err="1"/>
              <a:t>xlab</a:t>
            </a:r>
            <a:r>
              <a:rPr lang="en-US" sz="1600" dirty="0"/>
              <a:t> = "Publisher Group",  </a:t>
            </a:r>
            <a:r>
              <a:rPr lang="en-US" sz="1600" dirty="0" err="1"/>
              <a:t>ylab</a:t>
            </a:r>
            <a:r>
              <a:rPr lang="en-US" sz="1600" dirty="0"/>
              <a:t> = "Critic Score")</a:t>
            </a:r>
            <a:endParaRPr lang="en-IN"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1FED04F-8724-5016-2138-99B44856F540}"/>
              </a:ext>
            </a:extLst>
          </p:cNvPr>
          <p:cNvSpPr>
            <a:spLocks noGrp="1"/>
          </p:cNvSpPr>
          <p:nvPr>
            <p:ph type="subTitle" idx="1"/>
          </p:nvPr>
        </p:nvSpPr>
        <p:spPr>
          <a:xfrm>
            <a:off x="942200" y="1021854"/>
            <a:ext cx="7200000" cy="452446"/>
          </a:xfrm>
        </p:spPr>
        <p:txBody>
          <a:bodyPr/>
          <a:lstStyle/>
          <a:p>
            <a:r>
              <a:rPr lang="en-IN" dirty="0"/>
              <a:t>HISTOGRAM</a:t>
            </a:r>
          </a:p>
        </p:txBody>
      </p:sp>
      <p:sp>
        <p:nvSpPr>
          <p:cNvPr id="4" name="Slide Number Placeholder 3">
            <a:extLst>
              <a:ext uri="{FF2B5EF4-FFF2-40B4-BE49-F238E27FC236}">
                <a16:creationId xmlns:a16="http://schemas.microsoft.com/office/drawing/2014/main" id="{B55089A4-49FA-8DC8-C825-68F42160DCE3}"/>
              </a:ext>
            </a:extLst>
          </p:cNvPr>
          <p:cNvSpPr>
            <a:spLocks noGrp="1"/>
          </p:cNvSpPr>
          <p:nvPr>
            <p:ph type="sldNum" sz="quarter" idx="12"/>
          </p:nvPr>
        </p:nvSpPr>
        <p:spPr/>
        <p:txBody>
          <a:bodyPr/>
          <a:lstStyle/>
          <a:p>
            <a:fld id="{E4D355CA-84B7-41B1-B164-8BB439CC7C6B}" type="slidenum">
              <a:rPr lang="en-GB" smtClean="0"/>
              <a:t>7</a:t>
            </a:fld>
            <a:endParaRPr lang="en-GB"/>
          </a:p>
        </p:txBody>
      </p:sp>
      <p:pic>
        <p:nvPicPr>
          <p:cNvPr id="9" name="Picture 8">
            <a:extLst>
              <a:ext uri="{FF2B5EF4-FFF2-40B4-BE49-F238E27FC236}">
                <a16:creationId xmlns:a16="http://schemas.microsoft.com/office/drawing/2014/main" id="{97B64E83-C562-9A1C-9D34-A03EAF9817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34685" y="1828263"/>
            <a:ext cx="7200000" cy="3992434"/>
          </a:xfrm>
          <a:prstGeom prst="rect">
            <a:avLst/>
          </a:prstGeom>
        </p:spPr>
      </p:pic>
      <p:sp>
        <p:nvSpPr>
          <p:cNvPr id="10" name="TextBox 9">
            <a:extLst>
              <a:ext uri="{FF2B5EF4-FFF2-40B4-BE49-F238E27FC236}">
                <a16:creationId xmlns:a16="http://schemas.microsoft.com/office/drawing/2014/main" id="{7F12D8F2-22B2-F7E3-3810-1247CC446A37}"/>
              </a:ext>
            </a:extLst>
          </p:cNvPr>
          <p:cNvSpPr txBox="1"/>
          <p:nvPr/>
        </p:nvSpPr>
        <p:spPr>
          <a:xfrm>
            <a:off x="678426" y="1828263"/>
            <a:ext cx="4906298" cy="1754326"/>
          </a:xfrm>
          <a:prstGeom prst="rect">
            <a:avLst/>
          </a:prstGeom>
          <a:noFill/>
        </p:spPr>
        <p:txBody>
          <a:bodyPr wrap="square" rtlCol="0">
            <a:spAutoFit/>
          </a:bodyPr>
          <a:lstStyle/>
          <a:p>
            <a:r>
              <a:rPr lang="en-IN" dirty="0"/>
              <a:t>hist(</a:t>
            </a:r>
            <a:r>
              <a:rPr lang="en-IN" dirty="0" err="1"/>
              <a:t>df_compare$Critic_Score</a:t>
            </a:r>
            <a:r>
              <a:rPr lang="en-IN" dirty="0"/>
              <a:t>,     </a:t>
            </a:r>
          </a:p>
          <a:p>
            <a:r>
              <a:rPr lang="en-IN" dirty="0"/>
              <a:t>main = "Histogram of Critic Scores",    </a:t>
            </a:r>
          </a:p>
          <a:p>
            <a:r>
              <a:rPr lang="en-IN" dirty="0"/>
              <a:t> </a:t>
            </a:r>
            <a:r>
              <a:rPr lang="en-IN" dirty="0" err="1"/>
              <a:t>xlab</a:t>
            </a:r>
            <a:r>
              <a:rPr lang="en-IN" dirty="0"/>
              <a:t> = "Critic Score",   </a:t>
            </a:r>
          </a:p>
          <a:p>
            <a:r>
              <a:rPr lang="en-IN" dirty="0"/>
              <a:t>  </a:t>
            </a:r>
            <a:r>
              <a:rPr lang="en-IN" dirty="0" err="1"/>
              <a:t>ylab</a:t>
            </a:r>
            <a:r>
              <a:rPr lang="en-IN" dirty="0"/>
              <a:t> = "Frequency",    </a:t>
            </a:r>
          </a:p>
          <a:p>
            <a:r>
              <a:rPr lang="en-IN" dirty="0"/>
              <a:t> col = "</a:t>
            </a:r>
            <a:r>
              <a:rPr lang="en-IN" dirty="0" err="1"/>
              <a:t>lightblue</a:t>
            </a:r>
            <a:r>
              <a:rPr lang="en-IN" dirty="0"/>
              <a:t>",   </a:t>
            </a:r>
          </a:p>
          <a:p>
            <a:r>
              <a:rPr lang="en-IN" dirty="0"/>
              <a:t>  border = "black")</a:t>
            </a:r>
          </a:p>
        </p:txBody>
      </p:sp>
    </p:spTree>
    <p:extLst>
      <p:ext uri="{BB962C8B-B14F-4D97-AF65-F5344CB8AC3E}">
        <p14:creationId xmlns:p14="http://schemas.microsoft.com/office/powerpoint/2010/main" val="110552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290880" y="-15804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5" name="CustomShape 2"/>
          <p:cNvSpPr/>
          <p:nvPr/>
        </p:nvSpPr>
        <p:spPr>
          <a:xfrm rot="10800000" flipH="1">
            <a:off x="360" y="360"/>
            <a:ext cx="12191760" cy="1575720"/>
          </a:xfrm>
          <a:prstGeom prst="rect">
            <a:avLst/>
          </a:prstGeom>
          <a:gradFill rotWithShape="0">
            <a:gsLst>
              <a:gs pos="0">
                <a:srgbClr val="000000">
                  <a:alpha val="96078"/>
                </a:srgbClr>
              </a:gs>
              <a:gs pos="100000">
                <a:srgbClr val="77418E"/>
              </a:gs>
            </a:gsLst>
            <a:lin ang="156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6" name="CustomShape 3"/>
          <p:cNvSpPr/>
          <p:nvPr/>
        </p:nvSpPr>
        <p:spPr>
          <a:xfrm>
            <a:off x="0" y="0"/>
            <a:ext cx="8128440" cy="1575000"/>
          </a:xfrm>
          <a:prstGeom prst="rect">
            <a:avLst/>
          </a:prstGeom>
          <a:gradFill rotWithShape="0">
            <a:gsLst>
              <a:gs pos="26000">
                <a:srgbClr val="C49FD3">
                  <a:alpha val="0"/>
                </a:srgbClr>
              </a:gs>
              <a:gs pos="100000">
                <a:srgbClr val="9C5FB5">
                  <a:alpha val="41176"/>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7" name="CustomShape 4"/>
          <p:cNvSpPr/>
          <p:nvPr/>
        </p:nvSpPr>
        <p:spPr>
          <a:xfrm flipH="1">
            <a:off x="0" y="0"/>
            <a:ext cx="12191760" cy="1573920"/>
          </a:xfrm>
          <a:prstGeom prst="rect">
            <a:avLst/>
          </a:prstGeom>
          <a:gradFill rotWithShape="0">
            <a:gsLst>
              <a:gs pos="22000">
                <a:srgbClr val="9C5FB5">
                  <a:alpha val="15294"/>
                </a:srgbClr>
              </a:gs>
              <a:gs pos="100000">
                <a:srgbClr val="000000">
                  <a:alpha val="63137"/>
                </a:srgbClr>
              </a:gs>
            </a:gsLst>
            <a:lin ang="60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8" name="TextShape 5"/>
          <p:cNvSpPr txBox="1"/>
          <p:nvPr/>
        </p:nvSpPr>
        <p:spPr>
          <a:xfrm>
            <a:off x="290880" y="158400"/>
            <a:ext cx="7063200" cy="1158840"/>
          </a:xfrm>
          <a:prstGeom prst="rect">
            <a:avLst/>
          </a:prstGeom>
          <a:noFill/>
          <a:ln>
            <a:noFill/>
          </a:ln>
        </p:spPr>
        <p:txBody>
          <a:bodyPr anchor="ctr">
            <a:normAutofit/>
          </a:bodyPr>
          <a:lstStyle/>
          <a:p>
            <a:pPr>
              <a:lnSpc>
                <a:spcPct val="90000"/>
              </a:lnSpc>
            </a:pPr>
            <a:r>
              <a:rPr lang="en-US" sz="2400" b="0" strike="noStrike" spc="-202">
                <a:solidFill>
                  <a:srgbClr val="FFFFFF"/>
                </a:solidFill>
                <a:latin typeface="Arial" panose="020B0604020202020204"/>
              </a:rPr>
              <a:t> </a:t>
            </a:r>
            <a:br>
              <a:rPr lang="en-US" sz="2400" b="0" strike="noStrike" spc="-202">
                <a:solidFill>
                  <a:srgbClr val="FFFFFF"/>
                </a:solidFill>
                <a:latin typeface="Arial" panose="020B0604020202020204"/>
              </a:rPr>
            </a:br>
            <a:br>
              <a:rPr lang="en-US" sz="2400" b="0" strike="noStrike" spc="-202">
                <a:solidFill>
                  <a:srgbClr val="FFFFFF"/>
                </a:solidFill>
                <a:latin typeface="Arial" panose="020B0604020202020204"/>
              </a:rPr>
            </a:br>
            <a:endParaRPr lang="en-US" sz="2400" b="0" strike="noStrike" spc="-1">
              <a:solidFill>
                <a:srgbClr val="203232"/>
              </a:solidFill>
              <a:latin typeface="Arial" panose="020B0604020202020204"/>
            </a:endParaRPr>
          </a:p>
        </p:txBody>
      </p:sp>
      <p:sp>
        <p:nvSpPr>
          <p:cNvPr id="109" name="TextShape 6"/>
          <p:cNvSpPr txBox="1"/>
          <p:nvPr/>
        </p:nvSpPr>
        <p:spPr>
          <a:xfrm>
            <a:off x="7354080" y="203882"/>
            <a:ext cx="4705437" cy="1158840"/>
          </a:xfrm>
          <a:prstGeom prst="rect">
            <a:avLst/>
          </a:prstGeom>
          <a:noFill/>
          <a:ln>
            <a:noFill/>
          </a:ln>
        </p:spPr>
        <p:txBody>
          <a:bodyPr anchor="ctr">
            <a:noAutofit/>
          </a:bodyPr>
          <a:lstStyle/>
          <a:p>
            <a:pPr>
              <a:lnSpc>
                <a:spcPts val="2880"/>
              </a:lnSpc>
              <a:spcAft>
                <a:spcPts val="990"/>
              </a:spcAft>
              <a:tabLst>
                <a:tab pos="0" algn="l"/>
              </a:tabLst>
            </a:pPr>
            <a:r>
              <a:rPr lang="en-GB" sz="3000" b="1" strike="noStrike" spc="-100">
                <a:solidFill>
                  <a:srgbClr val="FFFFFF"/>
                </a:solidFill>
                <a:latin typeface="Arial" panose="020B0604020202020204"/>
              </a:rPr>
              <a:t>Our RQ asks about Differences in means/ medians </a:t>
            </a:r>
            <a:endParaRPr lang="en-US" sz="3000" b="1" strike="noStrike" spc="-1">
              <a:latin typeface="Arial" panose="020B0604020202020204"/>
            </a:endParaRPr>
          </a:p>
        </p:txBody>
      </p:sp>
      <p:sp>
        <p:nvSpPr>
          <p:cNvPr id="110" name="TextShape 7"/>
          <p:cNvSpPr txBox="1"/>
          <p:nvPr/>
        </p:nvSpPr>
        <p:spPr>
          <a:xfrm>
            <a:off x="11704320" y="6455520"/>
            <a:ext cx="447840" cy="364680"/>
          </a:xfrm>
          <a:prstGeom prst="rect">
            <a:avLst/>
          </a:prstGeom>
          <a:noFill/>
          <a:ln>
            <a:noFill/>
          </a:ln>
        </p:spPr>
        <p:txBody>
          <a:bodyPr anchor="ctr">
            <a:normAutofit/>
          </a:bodyPr>
          <a:lstStyle/>
          <a:p>
            <a:pPr algn="r">
              <a:lnSpc>
                <a:spcPct val="100000"/>
              </a:lnSpc>
              <a:spcAft>
                <a:spcPts val="600"/>
              </a:spcAft>
            </a:pPr>
            <a:fld id="{29CEFF96-2F62-4B45-8A43-FC60A0A96C7C}" type="slidenum">
              <a:rPr lang="en-US" sz="1100" b="1" strike="noStrike" spc="-1">
                <a:solidFill>
                  <a:srgbClr val="7DABAB"/>
                </a:solidFill>
                <a:latin typeface="Arial" panose="020B0604020202020204"/>
              </a:rPr>
              <a:t>8</a:t>
            </a:fld>
            <a:endParaRPr lang="en-US" sz="1100" b="0" strike="noStrike" spc="-1">
              <a:latin typeface="Times New Roman" panose="02020603050405020304"/>
            </a:endParaRPr>
          </a:p>
        </p:txBody>
      </p:sp>
      <p:sp>
        <p:nvSpPr>
          <p:cNvPr id="111" name="CustomShape 8"/>
          <p:cNvSpPr/>
          <p:nvPr/>
        </p:nvSpPr>
        <p:spPr>
          <a:xfrm>
            <a:off x="366120" y="197640"/>
            <a:ext cx="69883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2400" b="0" strike="noStrike" spc="-1">
                <a:solidFill>
                  <a:srgbClr val="FFFFFF"/>
                </a:solidFill>
                <a:latin typeface="Arial" panose="020B0604020202020204"/>
              </a:rPr>
              <a:t>Here is a </a:t>
            </a:r>
            <a:r>
              <a:rPr lang="en-GB" sz="2400" b="1" strike="noStrike" spc="-1">
                <a:solidFill>
                  <a:srgbClr val="FFFFFF"/>
                </a:solidFill>
                <a:latin typeface="Arial" panose="020B0604020202020204"/>
              </a:rPr>
              <a:t>Histogram </a:t>
            </a:r>
            <a:r>
              <a:rPr lang="en-GB" sz="2400" b="0" strike="noStrike" spc="-1">
                <a:solidFill>
                  <a:srgbClr val="FFFFFF"/>
                </a:solidFill>
                <a:latin typeface="Arial" panose="020B0604020202020204"/>
              </a:rPr>
              <a:t>showing the frequencies of our dependent variable to include the normal curve overlay (shown in blue)</a:t>
            </a:r>
            <a:r>
              <a:rPr lang="en-GB" sz="1800" b="0" strike="noStrike" spc="-1">
                <a:solidFill>
                  <a:srgbClr val="203232"/>
                </a:solidFill>
                <a:latin typeface="Arial" panose="020B0604020202020204"/>
              </a:rPr>
              <a:t>.</a:t>
            </a:r>
            <a:endParaRPr lang="en-US" sz="1800" b="0" strike="noStrike" spc="-1">
              <a:latin typeface="Arial" panose="020B0604020202020204"/>
            </a:endParaRPr>
          </a:p>
        </p:txBody>
      </p:sp>
      <p:sp>
        <p:nvSpPr>
          <p:cNvPr id="112" name="CustomShape 9"/>
          <p:cNvSpPr/>
          <p:nvPr/>
        </p:nvSpPr>
        <p:spPr>
          <a:xfrm>
            <a:off x="290879" y="1627560"/>
            <a:ext cx="11768637" cy="4886280"/>
          </a:xfrm>
          <a:prstGeom prst="roundRect">
            <a:avLst>
              <a:gd name="adj" fmla="val 16667"/>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en-US" sz="1800" b="0" strike="noStrike" spc="-1" dirty="0">
              <a:latin typeface="Arial" panose="020B0604020202020204"/>
            </a:endParaRPr>
          </a:p>
          <a:p>
            <a:pPr>
              <a:lnSpc>
                <a:spcPct val="100000"/>
              </a:lnSpc>
            </a:pPr>
            <a:endParaRPr lang="en-US" sz="1800" b="0" strike="noStrike" spc="-1" dirty="0">
              <a:latin typeface="Arial" panose="020B0604020202020204"/>
            </a:endParaRPr>
          </a:p>
          <a:p>
            <a:pPr>
              <a:lnSpc>
                <a:spcPct val="100000"/>
              </a:lnSpc>
            </a:pPr>
            <a:endParaRPr lang="en-US" sz="1800" b="0" strike="noStrike" spc="-1" dirty="0">
              <a:latin typeface="Arial" panose="020B0604020202020204"/>
            </a:endParaRPr>
          </a:p>
          <a:p>
            <a:pPr>
              <a:lnSpc>
                <a:spcPct val="100000"/>
              </a:lnSpc>
            </a:pPr>
            <a:endParaRPr lang="en-US" sz="1800" b="0" strike="noStrike" spc="-1" dirty="0">
              <a:latin typeface="Arial" panose="020B0604020202020204"/>
            </a:endParaRPr>
          </a:p>
          <a:p>
            <a:pPr>
              <a:lnSpc>
                <a:spcPct val="100000"/>
              </a:lnSpc>
            </a:pPr>
            <a:endParaRPr lang="en-US" sz="1800" b="0" strike="noStrike" spc="-1" dirty="0">
              <a:latin typeface="Arial" panose="020B0604020202020204"/>
            </a:endParaRPr>
          </a:p>
          <a:p>
            <a:pPr>
              <a:lnSpc>
                <a:spcPct val="100000"/>
              </a:lnSpc>
            </a:pPr>
            <a:endParaRPr lang="en-US" sz="1800" b="0" strike="noStrike" spc="-1" dirty="0">
              <a:latin typeface="Arial" panose="020B0604020202020204"/>
            </a:endParaRPr>
          </a:p>
          <a:p>
            <a:pPr>
              <a:lnSpc>
                <a:spcPct val="100000"/>
              </a:lnSpc>
            </a:pPr>
            <a:endParaRPr lang="en-US" sz="1800" b="0" strike="noStrike" spc="-1" dirty="0">
              <a:latin typeface="Arial" panose="020B0604020202020204"/>
            </a:endParaRPr>
          </a:p>
          <a:p>
            <a:pPr>
              <a:lnSpc>
                <a:spcPct val="100000"/>
              </a:lnSpc>
            </a:pPr>
            <a:endParaRPr lang="en-US" sz="1800" b="0" strike="noStrike" spc="-1" dirty="0">
              <a:latin typeface="Arial" panose="020B0604020202020204"/>
            </a:endParaRPr>
          </a:p>
          <a:p>
            <a:pPr>
              <a:lnSpc>
                <a:spcPct val="100000"/>
              </a:lnSpc>
            </a:pPr>
            <a:endParaRPr lang="en-US" sz="1800" b="0" strike="noStrike" spc="-1" dirty="0">
              <a:latin typeface="Arial" panose="020B0604020202020204"/>
            </a:endParaRPr>
          </a:p>
          <a:p>
            <a:pPr>
              <a:lnSpc>
                <a:spcPct val="100000"/>
              </a:lnSpc>
            </a:pPr>
            <a:endParaRPr lang="en-US" sz="1800" b="0" strike="noStrike" spc="-1" dirty="0">
              <a:latin typeface="Arial" panose="020B0604020202020204"/>
            </a:endParaRPr>
          </a:p>
          <a:p>
            <a:pPr>
              <a:lnSpc>
                <a:spcPct val="100000"/>
              </a:lnSpc>
            </a:pPr>
            <a:endParaRPr lang="en-US" sz="1800" b="0" strike="noStrike" spc="-1" dirty="0">
              <a:latin typeface="Arial" panose="020B0604020202020204"/>
            </a:endParaRPr>
          </a:p>
          <a:p>
            <a:pPr>
              <a:lnSpc>
                <a:spcPct val="100000"/>
              </a:lnSpc>
            </a:pPr>
            <a:endParaRPr lang="en-US" sz="1800" b="0" strike="noStrike" spc="-1" dirty="0">
              <a:latin typeface="Arial" panose="020B0604020202020204"/>
            </a:endParaRPr>
          </a:p>
          <a:p>
            <a:pPr>
              <a:lnSpc>
                <a:spcPct val="100000"/>
              </a:lnSpc>
            </a:pPr>
            <a:endParaRPr lang="en-US" sz="1800" b="0" strike="noStrike" spc="-1" dirty="0">
              <a:latin typeface="Arial" panose="020B0604020202020204"/>
            </a:endParaRPr>
          </a:p>
          <a:p>
            <a:pPr>
              <a:lnSpc>
                <a:spcPct val="100000"/>
              </a:lnSpc>
            </a:pPr>
            <a:endParaRPr lang="en-US" sz="1800" b="0" strike="noStrike" spc="-1" dirty="0">
              <a:latin typeface="Arial" panose="020B0604020202020204"/>
            </a:endParaRPr>
          </a:p>
          <a:p>
            <a:pPr>
              <a:lnSpc>
                <a:spcPct val="100000"/>
              </a:lnSpc>
            </a:pPr>
            <a:endParaRPr lang="en-US" sz="1800" b="0" strike="noStrike" spc="-1" dirty="0">
              <a:latin typeface="Arial" panose="020B0604020202020204"/>
            </a:endParaRPr>
          </a:p>
          <a:p>
            <a:pPr>
              <a:lnSpc>
                <a:spcPct val="100000"/>
              </a:lnSpc>
            </a:pPr>
            <a:endParaRPr lang="en-US" sz="1800" b="0" strike="noStrike" spc="-1" dirty="0">
              <a:latin typeface="Arial" panose="020B0604020202020204"/>
            </a:endParaRPr>
          </a:p>
        </p:txBody>
      </p:sp>
      <p:sp>
        <p:nvSpPr>
          <p:cNvPr id="113" name="CustomShape 10"/>
          <p:cNvSpPr/>
          <p:nvPr/>
        </p:nvSpPr>
        <p:spPr>
          <a:xfrm>
            <a:off x="6403680" y="1917361"/>
            <a:ext cx="5497440" cy="430741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endParaRPr lang="en-GB" spc="-1" dirty="0">
              <a:solidFill>
                <a:srgbClr val="203232"/>
              </a:solidFill>
            </a:endParaRPr>
          </a:p>
          <a:p>
            <a:pPr>
              <a:lnSpc>
                <a:spcPct val="100000"/>
              </a:lnSpc>
            </a:pPr>
            <a:r>
              <a:rPr lang="en-GB" sz="1600" spc="-1" dirty="0">
                <a:solidFill>
                  <a:srgbClr val="203232"/>
                </a:solidFill>
              </a:rPr>
              <a:t>hist(</a:t>
            </a:r>
            <a:r>
              <a:rPr lang="en-GB" sz="1600" spc="-1" dirty="0" err="1">
                <a:solidFill>
                  <a:srgbClr val="203232"/>
                </a:solidFill>
              </a:rPr>
              <a:t>df_compare$Critic_Score</a:t>
            </a:r>
            <a:r>
              <a:rPr lang="en-GB" sz="1600" spc="-1" dirty="0">
                <a:solidFill>
                  <a:srgbClr val="203232"/>
                </a:solidFill>
              </a:rPr>
              <a:t>,</a:t>
            </a:r>
          </a:p>
          <a:p>
            <a:pPr>
              <a:lnSpc>
                <a:spcPct val="100000"/>
              </a:lnSpc>
            </a:pPr>
            <a:r>
              <a:rPr lang="en-GB" sz="1600" spc="-1" dirty="0">
                <a:solidFill>
                  <a:srgbClr val="203232"/>
                </a:solidFill>
              </a:rPr>
              <a:t>     main = "Histogram of Critic Scores with Normal Distribution Overlay",</a:t>
            </a:r>
          </a:p>
          <a:p>
            <a:pPr>
              <a:lnSpc>
                <a:spcPct val="100000"/>
              </a:lnSpc>
            </a:pPr>
            <a:r>
              <a:rPr lang="en-GB" sz="1600" spc="-1" dirty="0">
                <a:solidFill>
                  <a:srgbClr val="203232"/>
                </a:solidFill>
              </a:rPr>
              <a:t>     </a:t>
            </a:r>
            <a:r>
              <a:rPr lang="en-GB" sz="1600" spc="-1" dirty="0" err="1">
                <a:solidFill>
                  <a:srgbClr val="203232"/>
                </a:solidFill>
              </a:rPr>
              <a:t>xlab</a:t>
            </a:r>
            <a:r>
              <a:rPr lang="en-GB" sz="1600" spc="-1" dirty="0">
                <a:solidFill>
                  <a:srgbClr val="203232"/>
                </a:solidFill>
              </a:rPr>
              <a:t> = "Critic Score",</a:t>
            </a:r>
          </a:p>
          <a:p>
            <a:pPr>
              <a:lnSpc>
                <a:spcPct val="100000"/>
              </a:lnSpc>
            </a:pPr>
            <a:r>
              <a:rPr lang="en-GB" sz="1600" spc="-1" dirty="0">
                <a:solidFill>
                  <a:srgbClr val="203232"/>
                </a:solidFill>
              </a:rPr>
              <a:t>     </a:t>
            </a:r>
            <a:r>
              <a:rPr lang="en-GB" sz="1600" spc="-1" dirty="0" err="1">
                <a:solidFill>
                  <a:srgbClr val="203232"/>
                </a:solidFill>
              </a:rPr>
              <a:t>ylab</a:t>
            </a:r>
            <a:r>
              <a:rPr lang="en-GB" sz="1600" spc="-1" dirty="0">
                <a:solidFill>
                  <a:srgbClr val="203232"/>
                </a:solidFill>
              </a:rPr>
              <a:t> = "Density",</a:t>
            </a:r>
          </a:p>
          <a:p>
            <a:pPr>
              <a:lnSpc>
                <a:spcPct val="100000"/>
              </a:lnSpc>
            </a:pPr>
            <a:r>
              <a:rPr lang="en-GB" sz="1600" spc="-1" dirty="0">
                <a:solidFill>
                  <a:srgbClr val="203232"/>
                </a:solidFill>
              </a:rPr>
              <a:t>     col = "</a:t>
            </a:r>
            <a:r>
              <a:rPr lang="en-GB" sz="1600" spc="-1" dirty="0" err="1">
                <a:solidFill>
                  <a:srgbClr val="203232"/>
                </a:solidFill>
              </a:rPr>
              <a:t>lightblue</a:t>
            </a:r>
            <a:r>
              <a:rPr lang="en-GB" sz="1600" spc="-1" dirty="0">
                <a:solidFill>
                  <a:srgbClr val="203232"/>
                </a:solidFill>
              </a:rPr>
              <a:t>",</a:t>
            </a:r>
          </a:p>
          <a:p>
            <a:pPr>
              <a:lnSpc>
                <a:spcPct val="100000"/>
              </a:lnSpc>
            </a:pPr>
            <a:r>
              <a:rPr lang="en-GB" sz="1600" spc="-1" dirty="0">
                <a:solidFill>
                  <a:srgbClr val="203232"/>
                </a:solidFill>
              </a:rPr>
              <a:t>     border = "black",</a:t>
            </a:r>
          </a:p>
          <a:p>
            <a:pPr>
              <a:lnSpc>
                <a:spcPct val="100000"/>
              </a:lnSpc>
            </a:pPr>
            <a:r>
              <a:rPr lang="en-GB" sz="1600" spc="-1" dirty="0">
                <a:solidFill>
                  <a:srgbClr val="203232"/>
                </a:solidFill>
              </a:rPr>
              <a:t>     </a:t>
            </a:r>
            <a:r>
              <a:rPr lang="en-GB" sz="1600" spc="-1" dirty="0" err="1">
                <a:solidFill>
                  <a:srgbClr val="203232"/>
                </a:solidFill>
              </a:rPr>
              <a:t>freq</a:t>
            </a:r>
            <a:r>
              <a:rPr lang="en-GB" sz="1600" spc="-1" dirty="0">
                <a:solidFill>
                  <a:srgbClr val="203232"/>
                </a:solidFill>
              </a:rPr>
              <a:t> = FALSE)   # Use density scale</a:t>
            </a:r>
          </a:p>
          <a:p>
            <a:pPr>
              <a:lnSpc>
                <a:spcPct val="100000"/>
              </a:lnSpc>
            </a:pPr>
            <a:endParaRPr lang="en-GB" sz="1600" spc="-1" dirty="0">
              <a:solidFill>
                <a:srgbClr val="203232"/>
              </a:solidFill>
            </a:endParaRPr>
          </a:p>
          <a:p>
            <a:pPr>
              <a:lnSpc>
                <a:spcPct val="100000"/>
              </a:lnSpc>
            </a:pPr>
            <a:r>
              <a:rPr lang="en-GB" sz="1600" spc="-1" dirty="0">
                <a:solidFill>
                  <a:srgbClr val="203232"/>
                </a:solidFill>
              </a:rPr>
              <a:t>curve(</a:t>
            </a:r>
            <a:r>
              <a:rPr lang="en-GB" sz="1600" spc="-1" dirty="0" err="1">
                <a:solidFill>
                  <a:srgbClr val="203232"/>
                </a:solidFill>
              </a:rPr>
              <a:t>dnorm</a:t>
            </a:r>
            <a:r>
              <a:rPr lang="en-GB" sz="1600" spc="-1" dirty="0">
                <a:solidFill>
                  <a:srgbClr val="203232"/>
                </a:solidFill>
              </a:rPr>
              <a:t>(x,</a:t>
            </a:r>
          </a:p>
          <a:p>
            <a:pPr>
              <a:lnSpc>
                <a:spcPct val="100000"/>
              </a:lnSpc>
            </a:pPr>
            <a:r>
              <a:rPr lang="en-GB" sz="1600" spc="-1" dirty="0">
                <a:solidFill>
                  <a:srgbClr val="203232"/>
                </a:solidFill>
              </a:rPr>
              <a:t>            mean = mean(</a:t>
            </a:r>
            <a:r>
              <a:rPr lang="en-GB" sz="1600" spc="-1" dirty="0" err="1">
                <a:solidFill>
                  <a:srgbClr val="203232"/>
                </a:solidFill>
              </a:rPr>
              <a:t>df_compare$Critic_Score</a:t>
            </a:r>
            <a:r>
              <a:rPr lang="en-GB" sz="1600" spc="-1" dirty="0">
                <a:solidFill>
                  <a:srgbClr val="203232"/>
                </a:solidFill>
              </a:rPr>
              <a:t>, na.rm = TRUE),</a:t>
            </a:r>
          </a:p>
          <a:p>
            <a:pPr>
              <a:lnSpc>
                <a:spcPct val="100000"/>
              </a:lnSpc>
            </a:pPr>
            <a:r>
              <a:rPr lang="en-GB" sz="1600" spc="-1" dirty="0">
                <a:solidFill>
                  <a:srgbClr val="203232"/>
                </a:solidFill>
              </a:rPr>
              <a:t>            </a:t>
            </a:r>
            <a:r>
              <a:rPr lang="en-GB" sz="1600" spc="-1" dirty="0" err="1">
                <a:solidFill>
                  <a:srgbClr val="203232"/>
                </a:solidFill>
              </a:rPr>
              <a:t>sd</a:t>
            </a:r>
            <a:r>
              <a:rPr lang="en-GB" sz="1600" spc="-1" dirty="0">
                <a:solidFill>
                  <a:srgbClr val="203232"/>
                </a:solidFill>
              </a:rPr>
              <a:t> = </a:t>
            </a:r>
            <a:r>
              <a:rPr lang="en-GB" sz="1600" spc="-1" dirty="0" err="1">
                <a:solidFill>
                  <a:srgbClr val="203232"/>
                </a:solidFill>
              </a:rPr>
              <a:t>sd</a:t>
            </a:r>
            <a:r>
              <a:rPr lang="en-GB" sz="1600" spc="-1" dirty="0">
                <a:solidFill>
                  <a:srgbClr val="203232"/>
                </a:solidFill>
              </a:rPr>
              <a:t>(</a:t>
            </a:r>
            <a:r>
              <a:rPr lang="en-GB" sz="1600" spc="-1" dirty="0" err="1">
                <a:solidFill>
                  <a:srgbClr val="203232"/>
                </a:solidFill>
              </a:rPr>
              <a:t>df_compare$Critic_Score</a:t>
            </a:r>
            <a:r>
              <a:rPr lang="en-GB" sz="1600" spc="-1" dirty="0">
                <a:solidFill>
                  <a:srgbClr val="203232"/>
                </a:solidFill>
              </a:rPr>
              <a:t>, na.rm = TRUE)),</a:t>
            </a:r>
          </a:p>
          <a:p>
            <a:pPr>
              <a:lnSpc>
                <a:spcPct val="100000"/>
              </a:lnSpc>
            </a:pPr>
            <a:r>
              <a:rPr lang="en-GB" sz="1600" spc="-1" dirty="0">
                <a:solidFill>
                  <a:srgbClr val="203232"/>
                </a:solidFill>
              </a:rPr>
              <a:t>      col = "red",</a:t>
            </a:r>
          </a:p>
          <a:p>
            <a:pPr>
              <a:lnSpc>
                <a:spcPct val="100000"/>
              </a:lnSpc>
            </a:pPr>
            <a:r>
              <a:rPr lang="en-GB" sz="1600" spc="-1" dirty="0">
                <a:solidFill>
                  <a:srgbClr val="203232"/>
                </a:solidFill>
              </a:rPr>
              <a:t>      </a:t>
            </a:r>
            <a:r>
              <a:rPr lang="en-GB" sz="1600" spc="-1" dirty="0" err="1">
                <a:solidFill>
                  <a:srgbClr val="203232"/>
                </a:solidFill>
              </a:rPr>
              <a:t>lwd</a:t>
            </a:r>
            <a:r>
              <a:rPr lang="en-GB" sz="1600" spc="-1" dirty="0">
                <a:solidFill>
                  <a:srgbClr val="203232"/>
                </a:solidFill>
              </a:rPr>
              <a:t> = 2,</a:t>
            </a:r>
          </a:p>
          <a:p>
            <a:pPr>
              <a:lnSpc>
                <a:spcPct val="100000"/>
              </a:lnSpc>
            </a:pPr>
            <a:r>
              <a:rPr lang="en-GB" sz="1600" spc="-1" dirty="0">
                <a:solidFill>
                  <a:srgbClr val="203232"/>
                </a:solidFill>
              </a:rPr>
              <a:t>      add = TRUE)</a:t>
            </a:r>
            <a:endParaRPr lang="en-US" sz="1600" b="0" strike="noStrike" spc="-1" dirty="0">
              <a:latin typeface="Arial" panose="020B0604020202020204"/>
            </a:endParaRPr>
          </a:p>
        </p:txBody>
      </p:sp>
      <p:pic>
        <p:nvPicPr>
          <p:cNvPr id="3" name="Picture 2">
            <a:extLst>
              <a:ext uri="{FF2B5EF4-FFF2-40B4-BE49-F238E27FC236}">
                <a16:creationId xmlns:a16="http://schemas.microsoft.com/office/drawing/2014/main" id="{12859C15-4CC8-3EFF-B366-CC3EE76864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560" y="1787685"/>
            <a:ext cx="5497440" cy="44519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965160" y="790920"/>
            <a:ext cx="7176600" cy="230400"/>
          </a:xfrm>
          <a:prstGeom prst="rect">
            <a:avLst/>
          </a:prstGeom>
          <a:noFill/>
          <a:ln>
            <a:noFill/>
          </a:ln>
        </p:spPr>
        <p:txBody>
          <a:bodyPr lIns="0" tIns="0" rIns="0" bIns="0">
            <a:noAutofit/>
          </a:bodyPr>
          <a:lstStyle/>
          <a:p>
            <a:pPr>
              <a:lnSpc>
                <a:spcPct val="100000"/>
              </a:lnSpc>
            </a:pPr>
            <a:r>
              <a:rPr lang="en-GB" sz="1500" b="0" strike="noStrike" spc="-1">
                <a:solidFill>
                  <a:srgbClr val="B3B9B9"/>
                </a:solidFill>
                <a:latin typeface="Arial" panose="020B0604020202020204"/>
              </a:rPr>
              <a:t>PRE 7COM1079-2022  Student Group No:  ?????</a:t>
            </a:r>
            <a:endParaRPr lang="en-US" sz="1500" b="0" strike="noStrike" spc="-1">
              <a:latin typeface="Times New Roman" panose="02020603050405020304"/>
            </a:endParaRPr>
          </a:p>
        </p:txBody>
      </p:sp>
      <p:sp>
        <p:nvSpPr>
          <p:cNvPr id="136" name="TextShape 2"/>
          <p:cNvSpPr txBox="1"/>
          <p:nvPr/>
        </p:nvSpPr>
        <p:spPr>
          <a:xfrm>
            <a:off x="10616400" y="790920"/>
            <a:ext cx="622440" cy="230400"/>
          </a:xfrm>
          <a:prstGeom prst="rect">
            <a:avLst/>
          </a:prstGeom>
          <a:noFill/>
          <a:ln>
            <a:noFill/>
          </a:ln>
        </p:spPr>
        <p:txBody>
          <a:bodyPr lIns="0" tIns="0" rIns="0" bIns="0">
            <a:noAutofit/>
          </a:bodyPr>
          <a:lstStyle/>
          <a:p>
            <a:pPr algn="r">
              <a:lnSpc>
                <a:spcPct val="100000"/>
              </a:lnSpc>
            </a:pPr>
            <a:fld id="{ADC5D68A-648F-4923-B6A1-749DE04AEFFA}" type="slidenum">
              <a:rPr lang="en-GB" sz="1500" b="1" strike="noStrike" spc="-1">
                <a:solidFill>
                  <a:srgbClr val="B3B9B9"/>
                </a:solidFill>
                <a:latin typeface="Arial" panose="020B0604020202020204"/>
              </a:rPr>
              <a:t>9</a:t>
            </a:fld>
            <a:endParaRPr lang="en-US" sz="1500" b="0" strike="noStrike" spc="-1">
              <a:latin typeface="Times New Roman" panose="02020603050405020304"/>
            </a:endParaRPr>
          </a:p>
        </p:txBody>
      </p:sp>
      <p:sp>
        <p:nvSpPr>
          <p:cNvPr id="137" name="TextShape 3"/>
          <p:cNvSpPr txBox="1"/>
          <p:nvPr/>
        </p:nvSpPr>
        <p:spPr>
          <a:xfrm>
            <a:off x="952919" y="385588"/>
            <a:ext cx="10815527" cy="667800"/>
          </a:xfrm>
          <a:prstGeom prst="rect">
            <a:avLst/>
          </a:prstGeom>
          <a:solidFill>
            <a:srgbClr val="FFFFFF"/>
          </a:solidFill>
          <a:ln>
            <a:noFill/>
          </a:ln>
        </p:spPr>
        <p:txBody>
          <a:bodyPr lIns="0" tIns="0" rIns="0" bIns="0">
            <a:noAutofit/>
          </a:bodyPr>
          <a:lstStyle/>
          <a:p>
            <a:pPr>
              <a:lnSpc>
                <a:spcPct val="100000"/>
              </a:lnSpc>
              <a:spcAft>
                <a:spcPts val="990"/>
              </a:spcAft>
              <a:tabLst>
                <a:tab pos="0" algn="l"/>
              </a:tabLst>
            </a:pPr>
            <a:r>
              <a:rPr lang="en-GB" sz="3600" b="1" strike="noStrike" spc="-100">
                <a:solidFill>
                  <a:srgbClr val="203232"/>
                </a:solidFill>
                <a:latin typeface="Arial" panose="020B0604020202020204"/>
              </a:rPr>
              <a:t>R Script and Results  (For ALL types of test) – The Analysis</a:t>
            </a:r>
            <a:endParaRPr lang="en-US" sz="3600" b="1" strike="noStrike" spc="-1">
              <a:latin typeface="Arial" panose="020B0604020202020204"/>
            </a:endParaRPr>
          </a:p>
          <a:p>
            <a:pPr>
              <a:lnSpc>
                <a:spcPct val="100000"/>
              </a:lnSpc>
              <a:spcAft>
                <a:spcPts val="990"/>
              </a:spcAft>
              <a:tabLst>
                <a:tab pos="0" algn="l"/>
              </a:tabLst>
            </a:pPr>
            <a:endParaRPr lang="en-US" sz="2400" b="0" strike="noStrike" spc="-1">
              <a:latin typeface="Arial" panose="020B0604020202020204"/>
            </a:endParaRPr>
          </a:p>
        </p:txBody>
      </p:sp>
      <p:sp>
        <p:nvSpPr>
          <p:cNvPr id="2" name="TextBox 1"/>
          <p:cNvSpPr txBox="1"/>
          <p:nvPr/>
        </p:nvSpPr>
        <p:spPr>
          <a:xfrm>
            <a:off x="701458" y="1671663"/>
            <a:ext cx="11066988" cy="4339650"/>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2400" dirty="0">
                <a:solidFill>
                  <a:srgbClr val="203232"/>
                </a:solidFill>
                <a:latin typeface="Calibri" panose="020F0502020204030204" pitchFamily="34" charset="0"/>
                <a:ea typeface="Calibri" panose="020F0502020204030204" pitchFamily="34" charset="0"/>
                <a:cs typeface="Calibri" panose="020F0502020204030204" pitchFamily="34" charset="0"/>
              </a:rPr>
              <a:t>R CODE</a:t>
            </a:r>
          </a:p>
          <a:p>
            <a:pPr lvl="1"/>
            <a:r>
              <a:rPr lang="en-US" dirty="0" err="1">
                <a:solidFill>
                  <a:srgbClr val="0070C0"/>
                </a:solidFill>
              </a:rPr>
              <a:t>df_compare</a:t>
            </a:r>
            <a:r>
              <a:rPr lang="en-US" dirty="0">
                <a:solidFill>
                  <a:srgbClr val="0070C0"/>
                </a:solidFill>
              </a:rPr>
              <a:t> &lt;- </a:t>
            </a:r>
            <a:r>
              <a:rPr lang="en-US" dirty="0" err="1">
                <a:solidFill>
                  <a:srgbClr val="0070C0"/>
                </a:solidFill>
              </a:rPr>
              <a:t>df</a:t>
            </a:r>
            <a:r>
              <a:rPr lang="en-US" dirty="0">
                <a:solidFill>
                  <a:srgbClr val="0070C0"/>
                </a:solidFill>
              </a:rPr>
              <a:t> %&gt;%  mutate(Group = </a:t>
            </a:r>
            <a:r>
              <a:rPr lang="en-US" dirty="0" err="1">
                <a:solidFill>
                  <a:srgbClr val="0070C0"/>
                </a:solidFill>
              </a:rPr>
              <a:t>ifelse</a:t>
            </a:r>
            <a:r>
              <a:rPr lang="en-US" dirty="0">
                <a:solidFill>
                  <a:srgbClr val="0070C0"/>
                </a:solidFill>
              </a:rPr>
              <a:t>(Publisher == "Nintendo", "Nintendo", "Others"))</a:t>
            </a:r>
          </a:p>
          <a:p>
            <a:pPr lvl="1"/>
            <a:r>
              <a:rPr lang="en-US" dirty="0" err="1">
                <a:solidFill>
                  <a:srgbClr val="0070C0"/>
                </a:solidFill>
              </a:rPr>
              <a:t>wilcox.test</a:t>
            </a:r>
            <a:r>
              <a:rPr lang="en-US" dirty="0">
                <a:solidFill>
                  <a:srgbClr val="0070C0"/>
                </a:solidFill>
              </a:rPr>
              <a:t>(</a:t>
            </a:r>
            <a:r>
              <a:rPr lang="en-US" dirty="0" err="1">
                <a:solidFill>
                  <a:srgbClr val="0070C0"/>
                </a:solidFill>
              </a:rPr>
              <a:t>Critic_Score</a:t>
            </a:r>
            <a:r>
              <a:rPr lang="en-US" dirty="0">
                <a:solidFill>
                  <a:srgbClr val="0070C0"/>
                </a:solidFill>
              </a:rPr>
              <a:t> ~ Group, data = </a:t>
            </a:r>
            <a:r>
              <a:rPr lang="en-US" dirty="0" err="1">
                <a:solidFill>
                  <a:srgbClr val="0070C0"/>
                </a:solidFill>
              </a:rPr>
              <a:t>df_compare</a:t>
            </a:r>
            <a:r>
              <a:rPr lang="en-US" dirty="0">
                <a:solidFill>
                  <a:srgbClr val="0070C0"/>
                </a:solidFill>
              </a:rPr>
              <a:t>)</a:t>
            </a:r>
          </a:p>
          <a:p>
            <a:pPr marL="285750" indent="-285750">
              <a:buFont typeface="Arial" panose="020B0604020202020204" pitchFamily="34" charset="0"/>
              <a:buChar char="•"/>
            </a:pPr>
            <a:r>
              <a:rPr lang="en-US" sz="2400" dirty="0">
                <a:solidFill>
                  <a:srgbClr val="203232"/>
                </a:solidFill>
                <a:latin typeface="Calibri" panose="020F0502020204030204" pitchFamily="34" charset="0"/>
                <a:ea typeface="Calibri" panose="020F0502020204030204" pitchFamily="34" charset="0"/>
                <a:cs typeface="Calibri" panose="020F0502020204030204" pitchFamily="34" charset="0"/>
              </a:rPr>
              <a:t>Wilcoxon Rank-Sum Test Results</a:t>
            </a:r>
            <a:endParaRPr lang="en-US" sz="2400" spc="-202" dirty="0">
              <a:solidFill>
                <a:srgbClr val="203232"/>
              </a:solidFill>
            </a:endParaRPr>
          </a:p>
          <a:p>
            <a:pPr marL="285750" indent="-285750">
              <a:buFont typeface="Arial" panose="020B0604020202020204" pitchFamily="34" charset="0"/>
              <a:buChar char="•"/>
            </a:pPr>
            <a:r>
              <a:rPr lang="en-US" sz="2400" dirty="0">
                <a:solidFill>
                  <a:srgbClr val="203232"/>
                </a:solidFill>
                <a:latin typeface="Calibri" panose="020F0502020204030204" pitchFamily="34" charset="0"/>
                <a:ea typeface="Calibri" panose="020F0502020204030204" pitchFamily="34" charset="0"/>
                <a:cs typeface="Calibri" panose="020F0502020204030204" pitchFamily="34" charset="0"/>
              </a:rPr>
              <a:t>Test Used: Wilcoxon Rank-Sum Test</a:t>
            </a:r>
          </a:p>
          <a:p>
            <a:pPr marL="285750" indent="-285750">
              <a:buFont typeface="Arial" panose="020B0604020202020204" pitchFamily="34" charset="0"/>
              <a:buChar char="•"/>
            </a:pPr>
            <a:r>
              <a:rPr lang="en-US" sz="2400" dirty="0">
                <a:solidFill>
                  <a:srgbClr val="203232"/>
                </a:solidFill>
                <a:latin typeface="Calibri" panose="020F0502020204030204" pitchFamily="34" charset="0"/>
                <a:ea typeface="Calibri" panose="020F0502020204030204" pitchFamily="34" charset="0"/>
                <a:cs typeface="Calibri" panose="020F0502020204030204" pitchFamily="34" charset="0"/>
              </a:rPr>
              <a:t>Test Statistic (W): 1,834,191</a:t>
            </a:r>
          </a:p>
          <a:p>
            <a:pPr marL="285750" indent="-285750">
              <a:buFont typeface="Arial" panose="020B0604020202020204" pitchFamily="34" charset="0"/>
              <a:buChar char="•"/>
            </a:pPr>
            <a:r>
              <a:rPr lang="en-US" sz="2400" dirty="0">
                <a:solidFill>
                  <a:srgbClr val="203232"/>
                </a:solidFill>
                <a:latin typeface="Calibri" panose="020F0502020204030204" pitchFamily="34" charset="0"/>
                <a:ea typeface="Calibri" panose="020F0502020204030204" pitchFamily="34" charset="0"/>
                <a:cs typeface="Calibri" panose="020F0502020204030204" pitchFamily="34" charset="0"/>
              </a:rPr>
              <a:t>p-value: &lt; 2.2 × 10⁻¹⁶</a:t>
            </a:r>
          </a:p>
          <a:p>
            <a:pPr marL="285750" indent="-285750">
              <a:buFont typeface="Arial" panose="020B0604020202020204" pitchFamily="34" charset="0"/>
              <a:buChar char="•"/>
            </a:pPr>
            <a:r>
              <a:rPr lang="en-US" sz="2400" dirty="0">
                <a:solidFill>
                  <a:srgbClr val="203232"/>
                </a:solidFill>
                <a:latin typeface="Calibri" panose="020F0502020204030204" pitchFamily="34" charset="0"/>
                <a:ea typeface="Calibri" panose="020F0502020204030204" pitchFamily="34" charset="0"/>
                <a:cs typeface="Calibri" panose="020F0502020204030204" pitchFamily="34" charset="0"/>
              </a:rPr>
              <a:t>Significant?: Yes</a:t>
            </a:r>
          </a:p>
          <a:p>
            <a:pPr marL="285750" indent="-285750">
              <a:buFont typeface="Arial" panose="020B0604020202020204" pitchFamily="34" charset="0"/>
              <a:buChar char="•"/>
            </a:pPr>
            <a:r>
              <a:rPr lang="en-US" sz="2400" dirty="0">
                <a:solidFill>
                  <a:srgbClr val="203232"/>
                </a:solidFill>
                <a:latin typeface="Calibri" panose="020F0502020204030204" pitchFamily="34" charset="0"/>
                <a:ea typeface="Calibri" panose="020F0502020204030204" pitchFamily="34" charset="0"/>
                <a:cs typeface="Calibri" panose="020F0502020204030204" pitchFamily="34" charset="0"/>
              </a:rPr>
              <a:t>Decision: Reject the null hypothesis</a:t>
            </a:r>
          </a:p>
          <a:p>
            <a:pPr marL="285750" indent="-285750">
              <a:buFont typeface="Arial" panose="020B0604020202020204" pitchFamily="34" charset="0"/>
              <a:buChar char="•"/>
            </a:pPr>
            <a:r>
              <a:rPr lang="en-US" sz="2400" dirty="0">
                <a:solidFill>
                  <a:srgbClr val="203232"/>
                </a:solidFill>
                <a:latin typeface="Calibri" panose="020F0502020204030204" pitchFamily="34" charset="0"/>
                <a:ea typeface="Calibri" panose="020F0502020204030204" pitchFamily="34" charset="0"/>
                <a:cs typeface="Calibri" panose="020F0502020204030204" pitchFamily="34" charset="0"/>
              </a:rPr>
              <a:t>Conclusion:</a:t>
            </a:r>
          </a:p>
          <a:p>
            <a:pPr marL="285750" indent="-285750">
              <a:buFont typeface="Arial" panose="020B0604020202020204" pitchFamily="34" charset="0"/>
              <a:buChar char="•"/>
            </a:pPr>
            <a:r>
              <a:rPr lang="en-US" sz="2400" dirty="0">
                <a:solidFill>
                  <a:srgbClr val="203232"/>
                </a:solidFill>
                <a:latin typeface="Calibri" panose="020F0502020204030204" pitchFamily="34" charset="0"/>
                <a:ea typeface="Calibri" panose="020F0502020204030204" pitchFamily="34" charset="0"/>
                <a:cs typeface="Calibri" panose="020F0502020204030204" pitchFamily="34" charset="0"/>
              </a:rPr>
              <a:t>Nintendo games have significantly different critic scores compared to other publishers. Publisher appears to be associated with critic ratings.</a:t>
            </a:r>
            <a:endParaRPr lang="en-GB" sz="24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23C8B18E-2229-A555-BA84-5CAEF11A91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4096" y="3198461"/>
            <a:ext cx="6477904" cy="1286054"/>
          </a:xfrm>
          <a:prstGeom prst="rect">
            <a:avLst/>
          </a:prstGeom>
        </p:spPr>
      </p:pic>
    </p:spTree>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C521DD-2673-4EE6-BB9B-DC5C3320FFBB}">
  <ds:schemaRefs/>
</ds:datastoreItem>
</file>

<file path=customXml/itemProps2.xml><?xml version="1.0" encoding="utf-8"?>
<ds:datastoreItem xmlns:ds="http://schemas.openxmlformats.org/officeDocument/2006/customXml" ds:itemID="{EDD1FC41-23C7-41B0-B5F9-BF4CD38AD2ED}">
  <ds:schemaRefs/>
</ds:datastoreItem>
</file>

<file path=customXml/itemProps3.xml><?xml version="1.0" encoding="utf-8"?>
<ds:datastoreItem xmlns:ds="http://schemas.openxmlformats.org/officeDocument/2006/customXml" ds:itemID="{421B8C57-903D-4D0E-8336-7B512F760CD1}">
  <ds:schemaRefs/>
</ds:datastoreItem>
</file>

<file path=docProps/app.xml><?xml version="1.0" encoding="utf-8"?>
<Properties xmlns="http://schemas.openxmlformats.org/officeDocument/2006/extended-properties" xmlns:vt="http://schemas.openxmlformats.org/officeDocument/2006/docPropsVTypes">
  <TotalTime>192</TotalTime>
  <Words>973</Words>
  <Application>Microsoft Office PowerPoint</Application>
  <PresentationFormat>Widescreen</PresentationFormat>
  <Paragraphs>95</Paragraphs>
  <Slides>9</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Herts Theme</vt:lpstr>
      <vt:lpstr>PowerPoint Presentation</vt:lpstr>
      <vt:lpstr>How your RQ + distribution of data (Histogram) leads to a statistical test. Visualization requirements highlighted in yellow.</vt:lpstr>
      <vt:lpstr>Visualization and Analysis –  Tutorial Presentation for Feedback Date:  </vt:lpstr>
      <vt:lpstr>our reasearch question: “Is there a difference in the mean of  Critic score of vedio games  between the “Nintendo publisher “and Other Publishers “.  Null hypothesis (H0): There is no difference in the mean of the Critic score  between/among subsets of the Publishers.    Alt hypothesis (H1): : There is difference in the mean of the Critic score  between/among subsets of the Publishers.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Keerthi Rakesh</cp:lastModifiedBy>
  <cp:revision>9</cp:revision>
  <dcterms:created xsi:type="dcterms:W3CDTF">2019-10-01T08:37:00Z</dcterms:created>
  <dcterms:modified xsi:type="dcterms:W3CDTF">2025-12-08T22:37:15Z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y fmtid="{D5CDD505-2E9C-101B-9397-08002B2CF9AE}" pid="3" name="ICV">
    <vt:lpwstr>5DDCFDC3916B4B008742A27DE9E992A1_12</vt:lpwstr>
  </property>
  <property fmtid="{D5CDD505-2E9C-101B-9397-08002B2CF9AE}" pid="4" name="KSOProductBuildVer">
    <vt:lpwstr>1033-12.2.0.23155</vt:lpwstr>
  </property>
</Properties>
</file>